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As8A1h4ArOuYjJXf7CCauXB7Z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B40C3D-3904-476C-BF44-2A538A035B22}">
  <a:tblStyle styleId="{D7B40C3D-3904-476C-BF44-2A538A035B2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 Google Play listing and app visual: https://play.google.com/store/apps/details?hl=id&amp;id=app.bpjs.mobile</a:t>
            </a:r>
            <a:endParaRPr/>
          </a:p>
          <a:p>
            <a:pPr indent="0" lvl="0" marL="0" rtl="0" algn="l">
              <a:lnSpc>
                <a:spcPct val="100000"/>
              </a:lnSpc>
              <a:spcBef>
                <a:spcPts val="0"/>
              </a:spcBef>
              <a:spcAft>
                <a:spcPts val="0"/>
              </a:spcAft>
              <a:buSzPts val="1200"/>
              <a:buNone/>
            </a:pPr>
            <a:r>
              <a:rPr lang="en-US" sz="1200"/>
              <a:t>- User-provided PPKD Jakarta Selatan design reference.</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 Official Mobile JKN description and features: https://play.google.com/store/apps/details?hl=id&amp;id=app.bpjs.mobile</a:t>
            </a:r>
            <a:endParaRPr/>
          </a:p>
          <a:p>
            <a:pPr indent="0" lvl="0" marL="0" rtl="0" algn="l">
              <a:lnSpc>
                <a:spcPct val="100000"/>
              </a:lnSpc>
              <a:spcBef>
                <a:spcPts val="0"/>
              </a:spcBef>
              <a:spcAft>
                <a:spcPts val="0"/>
              </a:spcAft>
              <a:buSzPts val="1200"/>
              <a:buNone/>
            </a:pPr>
            <a:r>
              <a:rPr lang="en-US" sz="1200"/>
              <a:t>- Official Mobile JKN user guide: https://bpjs-kesehatan.go.id/user-manual-mobile-jkn/</a:t>
            </a:r>
            <a:endParaRPr/>
          </a:p>
          <a:p>
            <a:pPr indent="0" lvl="0" marL="0" rtl="0" algn="l">
              <a:lnSpc>
                <a:spcPct val="100000"/>
              </a:lnSpc>
              <a:spcBef>
                <a:spcPts val="0"/>
              </a:spcBef>
              <a:spcAft>
                <a:spcPts val="0"/>
              </a:spcAft>
              <a:buSzPts val="1200"/>
              <a:buNone/>
            </a:pPr>
            <a:r>
              <a:rPr lang="en-US" sz="1200"/>
              <a:t>- App icon and screenshots from the Google Play listing.</a:t>
            </a:r>
            <a:endParaRPr/>
          </a:p>
        </p:txBody>
      </p:sp>
      <p:sp>
        <p:nvSpPr>
          <p:cNvPr id="28" name="Google Shape;2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 Analysis scope and sample plan based on the user-provided project workflow.</a:t>
            </a:r>
            <a:endParaRPr/>
          </a:p>
          <a:p>
            <a:pPr indent="0" lvl="0" marL="0" rtl="0" algn="l">
              <a:lnSpc>
                <a:spcPct val="100000"/>
              </a:lnSpc>
              <a:spcBef>
                <a:spcPts val="0"/>
              </a:spcBef>
              <a:spcAft>
                <a:spcPts val="0"/>
              </a:spcAft>
              <a:buSzPts val="1200"/>
              <a:buNone/>
            </a:pPr>
            <a:r>
              <a:rPr lang="en-US" sz="1200"/>
              <a:t>- Dataset: mobile_jkn_juni_agustus_2026.csv (user-provided).</a:t>
            </a:r>
            <a:endParaRPr/>
          </a:p>
        </p:txBody>
      </p:sp>
      <p:sp>
        <p:nvSpPr>
          <p:cNvPr id="44" name="Google Shape;4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 TF-IDF: https://scikit-learn.org/stable/modules/generated/sklearn.feature_extraction.text.TfidfVectorizer.html</a:t>
            </a:r>
            <a:endParaRPr/>
          </a:p>
          <a:p>
            <a:pPr indent="0" lvl="0" marL="0" rtl="0" algn="l">
              <a:lnSpc>
                <a:spcPct val="100000"/>
              </a:lnSpc>
              <a:spcBef>
                <a:spcPts val="0"/>
              </a:spcBef>
              <a:spcAft>
                <a:spcPts val="0"/>
              </a:spcAft>
              <a:buSzPts val="1200"/>
              <a:buNone/>
            </a:pPr>
            <a:r>
              <a:rPr lang="en-US" sz="1200"/>
              <a:t>- MultinomialNB: https://scikit-learn.org/stable/modules/generated/sklearn.naive_bayes.MultinomialNB.html</a:t>
            </a:r>
            <a:endParaRPr/>
          </a:p>
          <a:p>
            <a:pPr indent="0" lvl="0" marL="0" rtl="0" algn="l">
              <a:lnSpc>
                <a:spcPct val="100000"/>
              </a:lnSpc>
              <a:spcBef>
                <a:spcPts val="0"/>
              </a:spcBef>
              <a:spcAft>
                <a:spcPts val="0"/>
              </a:spcAft>
              <a:buSzPts val="1200"/>
              <a:buNone/>
            </a:pPr>
            <a:r>
              <a:rPr lang="en-US" sz="1200"/>
              <a:t>- LinearSVC: https://scikit-learn.org/stable/modules/generated/sklearn.svm.LinearSVC.html</a:t>
            </a:r>
            <a:endParaRPr/>
          </a:p>
        </p:txBody>
      </p:sp>
      <p:sp>
        <p:nvSpPr>
          <p:cNvPr id="67" name="Google Shape;6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 Research flow based on the agreed three-notebook project structure and user-provided dataset.</a:t>
            </a:r>
            <a:endParaRPr/>
          </a:p>
          <a:p>
            <a:pPr indent="0" lvl="0" marL="0" rtl="0" algn="l">
              <a:lnSpc>
                <a:spcPct val="100000"/>
              </a:lnSpc>
              <a:spcBef>
                <a:spcPts val="0"/>
              </a:spcBef>
              <a:spcAft>
                <a:spcPts val="0"/>
              </a:spcAft>
              <a:buSzPts val="1200"/>
              <a:buNone/>
            </a:pPr>
            <a:r>
              <a:rPr lang="en-US" sz="1200"/>
              <a:t>- The output labels describe planned analysis; no model results are claimed yet.</a:t>
            </a:r>
            <a:endParaRPr/>
          </a:p>
        </p:txBody>
      </p:sp>
      <p:sp>
        <p:nvSpPr>
          <p:cNvPr id="96" name="Google Shape;9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 Dataset metadata calculated from mobile_jkn_juni_agustus_2026.csv (user-provided).</a:t>
            </a:r>
            <a:endParaRPr/>
          </a:p>
          <a:p>
            <a:pPr indent="0" lvl="0" marL="0" rtl="0" algn="l">
              <a:lnSpc>
                <a:spcPct val="100000"/>
              </a:lnSpc>
              <a:spcBef>
                <a:spcPts val="0"/>
              </a:spcBef>
              <a:spcAft>
                <a:spcPts val="0"/>
              </a:spcAft>
              <a:buSzPts val="1200"/>
              <a:buNone/>
            </a:pPr>
            <a:r>
              <a:rPr lang="en-US" sz="1200"/>
              <a:t>- Monthly counts: June 3,958; July 4,072; August 4,075.</a:t>
            </a:r>
            <a:endParaRPr/>
          </a:p>
          <a:p>
            <a:pPr indent="0" lvl="0" marL="0" rtl="0" algn="l">
              <a:lnSpc>
                <a:spcPct val="100000"/>
              </a:lnSpc>
              <a:spcBef>
                <a:spcPts val="0"/>
              </a:spcBef>
              <a:spcAft>
                <a:spcPts val="0"/>
              </a:spcAft>
              <a:buSzPts val="1200"/>
              <a:buNone/>
            </a:pPr>
            <a:r>
              <a:rPr lang="en-US" sz="1200"/>
              <a:t>- Google Play app listing: https://play.google.com/store/apps/details?hl=id&amp;id=app.bpjs.mobile</a:t>
            </a:r>
            <a:endParaRPr/>
          </a:p>
        </p:txBody>
      </p:sp>
      <p:sp>
        <p:nvSpPr>
          <p:cNvPr id="145" name="Google Shape;14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Sampel awal berjumlah 1.200. Dataset berlabel final di notebook berjumlah 1.471: negatif 605, netral 299, positif 567. Cleaning, normalisasi, tokenisasi, stopword removal dengan kata negasi dipertahankan, lalu stemming. Empat teks kosong dan 232 duplikat setelah preprocessing dikeluarkan sebelum split. Jumlah teks unik 1.235. Split stratified 80:20 menghasilkan 988 train dan 247 test. TF-IDF unigram-bigram berada dalam pipeline saat cross-validation.</a:t>
            </a:r>
            <a:endParaRPr/>
          </a:p>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Notebook 03_Analisis_Sentimen_Mobile_JKN_(2)_(1)(1).ipynb, sel 11, 16–29, 31.</a:t>
            </a:r>
            <a:endParaRPr/>
          </a:p>
          <a:p>
            <a:pPr indent="0" lvl="0" marL="0" rtl="0" algn="l">
              <a:lnSpc>
                <a:spcPct val="100000"/>
              </a:lnSpc>
              <a:spcBef>
                <a:spcPts val="0"/>
              </a:spcBef>
              <a:spcAft>
                <a:spcPts val="0"/>
              </a:spcAft>
              <a:buSzPts val="1200"/>
              <a:buNone/>
            </a:pPr>
            <a:r>
              <a:rPr lang="en-US" sz="1200"/>
              <a:t>[/Sources]</a:t>
            </a:r>
            <a:endParaRPr/>
          </a:p>
        </p:txBody>
      </p:sp>
      <p:sp>
        <p:nvSpPr>
          <p:cNvPr id="183" name="Google Shape;18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Pemilihan model hanya menggunakan train. F1 Macro benchmark: Logistic Regression 0.8577, Linear SVM 0.8492, Naive Bayes 0.7716. Accuracy benchmark berturut-turut 0.8735, 0.8654, 0.8148. Logistic Regression dipilih sebelum evaluasi pada test. Angka dalam lingkaran menunjukkan peringkat F1 Macro.</a:t>
            </a:r>
            <a:endParaRPr/>
          </a:p>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Notebook final, sel 32–35.</a:t>
            </a:r>
            <a:endParaRPr/>
          </a:p>
          <a:p>
            <a:pPr indent="0" lvl="0" marL="0" rtl="0" algn="l">
              <a:lnSpc>
                <a:spcPct val="100000"/>
              </a:lnSpc>
              <a:spcBef>
                <a:spcPts val="0"/>
              </a:spcBef>
              <a:spcAft>
                <a:spcPts val="0"/>
              </a:spcAft>
              <a:buSzPts val="1200"/>
              <a:buNone/>
            </a:pPr>
            <a:r>
              <a:rPr lang="en-US" sz="1200"/>
              <a:t>[/Sources]</a:t>
            </a:r>
            <a:endParaRPr/>
          </a:p>
        </p:txBody>
      </p:sp>
      <p:sp>
        <p:nvSpPr>
          <p:cNvPr id="195" name="Google Shape;19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Model final adalah Logistic Regression, dilatih pada seluruh train dan dievaluasi satu kali pada 247 test. Confusion Matrix (baris aktual, kolom prediksi; urutan negatif/netral/positif): [[109,6,5],[8,41,9],[2,0,67]]. Diagonal adalah prediksi yang benar. Recall netral 0.7069, sehingga kelas netral masih lebih sulit dikenali dibanding kelas lainnya.</a:t>
            </a:r>
            <a:endParaRPr/>
          </a:p>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Notebook final, sel 37–39. Semua angka Confusion Matrix disalin dari gambar output sel 38.</a:t>
            </a:r>
            <a:endParaRPr/>
          </a:p>
          <a:p>
            <a:pPr indent="0" lvl="0" marL="0" rtl="0" algn="l">
              <a:lnSpc>
                <a:spcPct val="100000"/>
              </a:lnSpc>
              <a:spcBef>
                <a:spcPts val="0"/>
              </a:spcBef>
              <a:spcAft>
                <a:spcPts val="0"/>
              </a:spcAft>
              <a:buSzPts val="1200"/>
              <a:buNone/>
            </a:pPr>
            <a:r>
              <a:rPr lang="en-US" sz="1200"/>
              <a:t>[/Sources]</a:t>
            </a:r>
            <a:endParaRPr/>
          </a:p>
        </p:txBody>
      </p:sp>
      <p:sp>
        <p:nvSpPr>
          <p:cNvPr id="221" name="Google Shape;22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Label manual dipertahankan berdasarkan ID; model hanya memprediksi 10.634 ulasan yang belum dilabel manual. Total final 12.105: negatif 5.563 (45.96%), netral 685 (5.66%), positif 5.857 (48.38%). Positif adalah kategori terbesar, tetapi tidak melebihi 50%. Jangan menyebutnya mayoritas mutlak.</a:t>
            </a:r>
            <a:endParaRPr/>
          </a:p>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Notebook final, sel 42–45.</a:t>
            </a:r>
            <a:endParaRPr/>
          </a:p>
          <a:p>
            <a:pPr indent="0" lvl="0" marL="0" rtl="0" algn="l">
              <a:lnSpc>
                <a:spcPct val="100000"/>
              </a:lnSpc>
              <a:spcBef>
                <a:spcPts val="0"/>
              </a:spcBef>
              <a:spcAft>
                <a:spcPts val="0"/>
              </a:spcAft>
              <a:buSzPts val="1200"/>
              <a:buNone/>
            </a:pPr>
            <a:r>
              <a:rPr lang="en-US" sz="1200"/>
              <a:t>[/Sources]</a:t>
            </a:r>
            <a:endParaRPr/>
          </a:p>
        </p:txBody>
      </p:sp>
      <p:sp>
        <p:nvSpPr>
          <p:cNvPr id="243" name="Google Shape;24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Dua WordCloud adalah output asli notebook pada teks normalisasi sebelum stemming. Kata domain yang terlalu umum diabaikan. Negatif: tidak 4477, mau 1698, daftar 1249, terus 1102, susah 1063, sangat 1007, login 993, otp 920, masuk 904, kode 872. Positif: sangat 2022, membantu 1336, bagus 1145, mudah 720, mantap 588, oke 538, cepat 343, baik 326, pelayanan 289, kasih 269. Frekuensi adalah kemunculan kata, bukan jumlah kasus.</a:t>
            </a:r>
            <a:endParaRPr/>
          </a:p>
          <a:p>
            <a:pPr indent="0" lvl="0" marL="0" rtl="0" algn="l">
              <a:lnSpc>
                <a:spcPct val="100000"/>
              </a:lnSpc>
              <a:spcBef>
                <a:spcPts val="0"/>
              </a:spcBef>
              <a:spcAft>
                <a:spcPts val="0"/>
              </a:spcAft>
              <a:buSzPts val="1200"/>
              <a:buNone/>
            </a:pPr>
            <a:r>
              <a:rPr lang="en-US" sz="1200"/>
              <a:t>[Sources]</a:t>
            </a:r>
            <a:endParaRPr/>
          </a:p>
          <a:p>
            <a:pPr indent="0" lvl="0" marL="0" rtl="0" algn="l">
              <a:lnSpc>
                <a:spcPct val="100000"/>
              </a:lnSpc>
              <a:spcBef>
                <a:spcPts val="0"/>
              </a:spcBef>
              <a:spcAft>
                <a:spcPts val="0"/>
              </a:spcAft>
              <a:buSzPts val="1200"/>
              <a:buNone/>
            </a:pPr>
            <a:r>
              <a:rPr lang="en-US" sz="1200"/>
              <a:t>Notebook final, output WordCloud sel 49 dan 50. Logo dan screenshot Mobile JKN diwarisi dari PPT pengguna.</a:t>
            </a:r>
            <a:endParaRPr/>
          </a:p>
          <a:p>
            <a:pPr indent="0" lvl="0" marL="0" rtl="0" algn="l">
              <a:lnSpc>
                <a:spcPct val="100000"/>
              </a:lnSpc>
              <a:spcBef>
                <a:spcPts val="0"/>
              </a:spcBef>
              <a:spcAft>
                <a:spcPts val="0"/>
              </a:spcAft>
              <a:buSzPts val="1200"/>
              <a:buNone/>
            </a:pPr>
            <a:r>
              <a:rPr lang="en-US" sz="1200"/>
              <a:t>[/Sources]</a:t>
            </a:r>
            <a:endParaRPr/>
          </a:p>
        </p:txBody>
      </p:sp>
      <p:sp>
        <p:nvSpPr>
          <p:cNvPr id="253" name="Google Shape;25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jpg"/><Relationship Id="rId7" Type="http://schemas.openxmlformats.org/officeDocument/2006/relationships/image" Target="../media/image7.png"/><Relationship Id="rId8"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drive.google.com/drive/folders/18t78ImvY_9Y9AcQKqEzcMPmsIASP8Rwh?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3486653" y="0"/>
            <a:ext cx="285750" cy="6858000"/>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 name="Google Shape;17;p1"/>
          <p:cNvPicPr preferRelativeResize="0"/>
          <p:nvPr/>
        </p:nvPicPr>
        <p:blipFill rotWithShape="1">
          <a:blip r:embed="rId3">
            <a:alphaModFix/>
          </a:blip>
          <a:srcRect b="0" l="0" r="0" t="0"/>
          <a:stretch/>
        </p:blipFill>
        <p:spPr>
          <a:xfrm>
            <a:off x="4363952" y="285750"/>
            <a:ext cx="2743200" cy="685800"/>
          </a:xfrm>
          <a:prstGeom prst="rect">
            <a:avLst/>
          </a:prstGeom>
          <a:noFill/>
          <a:ln>
            <a:noFill/>
          </a:ln>
        </p:spPr>
      </p:pic>
      <p:sp>
        <p:nvSpPr>
          <p:cNvPr id="18" name="Google Shape;18;p1"/>
          <p:cNvSpPr/>
          <p:nvPr/>
        </p:nvSpPr>
        <p:spPr>
          <a:xfrm>
            <a:off x="9239250" y="285750"/>
            <a:ext cx="2476500" cy="5238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sp>
        <p:nvSpPr>
          <p:cNvPr id="19" name="Google Shape;19;p1"/>
          <p:cNvSpPr/>
          <p:nvPr/>
        </p:nvSpPr>
        <p:spPr>
          <a:xfrm>
            <a:off x="4440152" y="1352550"/>
            <a:ext cx="1000125" cy="6667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4440152" y="1619250"/>
            <a:ext cx="6572250" cy="2571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B0F14"/>
              </a:buClr>
              <a:buSzPts val="2925"/>
              <a:buFont typeface="Calibri"/>
              <a:buNone/>
            </a:pPr>
            <a:r>
              <a:rPr b="1" i="0" lang="en-US" sz="2925" u="none" cap="none" strike="noStrike">
                <a:solidFill>
                  <a:srgbClr val="0B0F14"/>
                </a:solidFill>
                <a:latin typeface="Calibri"/>
                <a:ea typeface="Calibri"/>
                <a:cs typeface="Calibri"/>
                <a:sym typeface="Calibri"/>
              </a:rPr>
              <a:t>ANALISIS SENTIMEN ULASAN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B0F14"/>
              </a:buClr>
              <a:buSzPts val="2925"/>
              <a:buFont typeface="Calibri"/>
              <a:buNone/>
            </a:pPr>
            <a:r>
              <a:rPr b="1" i="0" lang="en-US" sz="2925" u="none" cap="none" strike="noStrike">
                <a:solidFill>
                  <a:srgbClr val="0B0F14"/>
                </a:solidFill>
                <a:latin typeface="Calibri"/>
                <a:ea typeface="Calibri"/>
                <a:cs typeface="Calibri"/>
                <a:sym typeface="Calibri"/>
              </a:rPr>
              <a:t>PENGGUNA APLIKASI</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B0F14"/>
              </a:buClr>
              <a:buSzPts val="2925"/>
              <a:buFont typeface="Calibri"/>
              <a:buNone/>
            </a:pPr>
            <a:r>
              <a:rPr b="1" i="0" lang="en-US" sz="2925" u="none" cap="none" strike="noStrike">
                <a:solidFill>
                  <a:srgbClr val="0B0F14"/>
                </a:solidFill>
                <a:latin typeface="Calibri"/>
                <a:ea typeface="Calibri"/>
                <a:cs typeface="Calibri"/>
                <a:sym typeface="Calibri"/>
              </a:rPr>
              <a:t>MOBILE JKN</a:t>
            </a:r>
            <a:endParaRPr b="0" i="0" sz="1800" u="none" cap="none" strike="noStrike">
              <a:solidFill>
                <a:srgbClr val="000000"/>
              </a:solidFill>
              <a:latin typeface="Arial"/>
              <a:ea typeface="Arial"/>
              <a:cs typeface="Arial"/>
              <a:sym typeface="Arial"/>
            </a:endParaRPr>
          </a:p>
        </p:txBody>
      </p:sp>
      <p:sp>
        <p:nvSpPr>
          <p:cNvPr id="21" name="Google Shape;21;p1"/>
          <p:cNvSpPr/>
          <p:nvPr/>
        </p:nvSpPr>
        <p:spPr>
          <a:xfrm>
            <a:off x="4459202" y="4286250"/>
            <a:ext cx="581025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50A4"/>
              </a:buClr>
              <a:buSzPts val="1500"/>
              <a:buFont typeface="Calibri"/>
              <a:buNone/>
            </a:pPr>
            <a:r>
              <a:rPr b="1" i="0" lang="en-US" sz="1500" u="none" cap="none" strike="noStrike">
                <a:solidFill>
                  <a:srgbClr val="0050A4"/>
                </a:solidFill>
                <a:latin typeface="Calibri"/>
                <a:ea typeface="Calibri"/>
                <a:cs typeface="Calibri"/>
                <a:sym typeface="Calibri"/>
              </a:rPr>
              <a:t>Google Play Store  |  Juni–Agustus 2026</a:t>
            </a:r>
            <a:endParaRPr b="0" i="0" sz="1800" u="none" cap="none" strike="noStrike">
              <a:solidFill>
                <a:srgbClr val="000000"/>
              </a:solidFill>
              <a:latin typeface="Arial"/>
              <a:ea typeface="Arial"/>
              <a:cs typeface="Arial"/>
              <a:sym typeface="Arial"/>
            </a:endParaRPr>
          </a:p>
        </p:txBody>
      </p:sp>
      <p:sp>
        <p:nvSpPr>
          <p:cNvPr id="22" name="Google Shape;22;p1"/>
          <p:cNvSpPr/>
          <p:nvPr/>
        </p:nvSpPr>
        <p:spPr>
          <a:xfrm>
            <a:off x="4459202" y="5476875"/>
            <a:ext cx="5238750" cy="323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D3748"/>
              </a:buClr>
              <a:buSzPts val="1650"/>
              <a:buFont typeface="Calibri"/>
              <a:buNone/>
            </a:pPr>
            <a:r>
              <a:rPr b="1" i="0" lang="en-US" sz="1650" u="none" cap="none" strike="noStrike">
                <a:solidFill>
                  <a:srgbClr val="2D3748"/>
                </a:solidFill>
                <a:latin typeface="Calibri"/>
                <a:ea typeface="Calibri"/>
                <a:cs typeface="Calibri"/>
                <a:sym typeface="Calibri"/>
              </a:rPr>
              <a:t>Solita Claudya Aguilera</a:t>
            </a:r>
            <a:endParaRPr b="0" i="0" sz="1800" u="none" cap="none" strike="noStrike">
              <a:solidFill>
                <a:srgbClr val="000000"/>
              </a:solidFill>
              <a:latin typeface="Arial"/>
              <a:ea typeface="Arial"/>
              <a:cs typeface="Arial"/>
              <a:sym typeface="Arial"/>
            </a:endParaRPr>
          </a:p>
        </p:txBody>
      </p:sp>
      <p:sp>
        <p:nvSpPr>
          <p:cNvPr id="23" name="Google Shape;23;p1"/>
          <p:cNvSpPr/>
          <p:nvPr/>
        </p:nvSpPr>
        <p:spPr>
          <a:xfrm>
            <a:off x="4459202" y="5829300"/>
            <a:ext cx="428625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75"/>
              <a:buFont typeface="Calibri"/>
              <a:buNone/>
            </a:pPr>
            <a:r>
              <a:rPr b="0" i="0" lang="en-US" sz="1275" u="none" cap="none" strike="noStrike">
                <a:solidFill>
                  <a:srgbClr val="64748B"/>
                </a:solidFill>
                <a:latin typeface="Calibri"/>
                <a:ea typeface="Calibri"/>
                <a:cs typeface="Calibri"/>
                <a:sym typeface="Calibri"/>
              </a:rPr>
              <a:t>Project Akhir Data Analyst</a:t>
            </a:r>
            <a:endParaRPr b="0" i="0" sz="1800" u="none" cap="none" strike="noStrike">
              <a:solidFill>
                <a:srgbClr val="000000"/>
              </a:solidFill>
              <a:latin typeface="Arial"/>
              <a:ea typeface="Arial"/>
              <a:cs typeface="Arial"/>
              <a:sym typeface="Arial"/>
            </a:endParaRPr>
          </a:p>
        </p:txBody>
      </p:sp>
      <p:pic>
        <p:nvPicPr>
          <p:cNvPr id="24" name="Google Shape;24;p1"/>
          <p:cNvPicPr preferRelativeResize="0"/>
          <p:nvPr/>
        </p:nvPicPr>
        <p:blipFill rotWithShape="1">
          <a:blip r:embed="rId4">
            <a:alphaModFix/>
          </a:blip>
          <a:srcRect b="6705" l="0" r="0" t="4167"/>
          <a:stretch/>
        </p:blipFill>
        <p:spPr>
          <a:xfrm>
            <a:off x="-14537" y="-16043"/>
            <a:ext cx="3491161" cy="69145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pic>
        <p:nvPicPr>
          <p:cNvPr id="30" name="Google Shape;30;p2"/>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31" name="Google Shape;31;p2"/>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32" name="Google Shape;32;p2"/>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33" name="Google Shape;33;p2"/>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LATAR BELAKANG</a:t>
            </a:r>
            <a:endParaRPr b="0" i="0" sz="1800" u="none" cap="none" strike="noStrike">
              <a:solidFill>
                <a:srgbClr val="000000"/>
              </a:solidFill>
              <a:latin typeface="Arial"/>
              <a:ea typeface="Arial"/>
              <a:cs typeface="Arial"/>
              <a:sym typeface="Arial"/>
            </a:endParaRPr>
          </a:p>
        </p:txBody>
      </p:sp>
      <p:sp>
        <p:nvSpPr>
          <p:cNvPr id="34" name="Google Shape;34;p2"/>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 name="Google Shape;35;p2"/>
          <p:cNvSpPr/>
          <p:nvPr/>
        </p:nvSpPr>
        <p:spPr>
          <a:xfrm>
            <a:off x="666751" y="2129588"/>
            <a:ext cx="3022933" cy="3924300"/>
          </a:xfrm>
          <a:prstGeom prst="roundRect">
            <a:avLst>
              <a:gd fmla="val 4706" name="adj"/>
            </a:avLst>
          </a:prstGeom>
          <a:solidFill>
            <a:srgbClr val="111638"/>
          </a:solidFill>
          <a:ln cap="flat" cmpd="sng" w="9525">
            <a:solidFill>
              <a:srgbClr val="111638"/>
            </a:solidFill>
            <a:prstDash val="solid"/>
            <a:round/>
            <a:headEnd len="sm" w="sm" type="none"/>
            <a:tailEnd len="sm" w="sm" type="none"/>
          </a:ln>
          <a:effectLst>
            <a:outerShdw blurRad="19050" dir="5400000" dist="9525">
              <a:srgbClr val="000000">
                <a:alpha val="588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5">
            <a:alphaModFix/>
          </a:blip>
          <a:srcRect b="0" l="0" r="0" t="0"/>
          <a:stretch/>
        </p:blipFill>
        <p:spPr>
          <a:xfrm>
            <a:off x="819150" y="2262938"/>
            <a:ext cx="685800" cy="685800"/>
          </a:xfrm>
          <a:prstGeom prst="roundRect">
            <a:avLst>
              <a:gd fmla="val 16667" name="adj"/>
            </a:avLst>
          </a:prstGeom>
          <a:noFill/>
          <a:ln>
            <a:noFill/>
          </a:ln>
        </p:spPr>
      </p:pic>
      <p:sp>
        <p:nvSpPr>
          <p:cNvPr id="37" name="Google Shape;37;p2"/>
          <p:cNvSpPr/>
          <p:nvPr/>
        </p:nvSpPr>
        <p:spPr>
          <a:xfrm>
            <a:off x="3842084" y="2124635"/>
            <a:ext cx="7683166" cy="957454"/>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73B78"/>
              </a:buClr>
              <a:buSzPts val="1600"/>
              <a:buFont typeface="Calibri"/>
              <a:buNone/>
            </a:pPr>
            <a:r>
              <a:rPr b="1" i="0" lang="en-US" sz="1600" u="none" cap="none" strike="noStrike">
                <a:solidFill>
                  <a:srgbClr val="073B78"/>
                </a:solidFill>
                <a:latin typeface="Calibri"/>
                <a:ea typeface="Calibri"/>
                <a:cs typeface="Calibri"/>
                <a:sym typeface="Calibri"/>
              </a:rPr>
              <a:t>Aplikasi resmi BPJS Kesehatan yang membantu peserta mengelola kepesertaan, memperoleh informasi fasilitas kesehatan, dan mengakses layanan seperti pendaftaran serta antrean pelayanan.</a:t>
            </a:r>
            <a:endParaRPr b="1" i="0" sz="1600" u="none" cap="none" strike="noStrike">
              <a:solidFill>
                <a:srgbClr val="073B78"/>
              </a:solidFill>
              <a:latin typeface="Calibri"/>
              <a:ea typeface="Calibri"/>
              <a:cs typeface="Calibri"/>
              <a:sym typeface="Calibri"/>
            </a:endParaRPr>
          </a:p>
        </p:txBody>
      </p:sp>
      <p:pic>
        <p:nvPicPr>
          <p:cNvPr id="38" name="Google Shape;38;p2"/>
          <p:cNvPicPr preferRelativeResize="0"/>
          <p:nvPr/>
        </p:nvPicPr>
        <p:blipFill rotWithShape="1">
          <a:blip r:embed="rId6">
            <a:alphaModFix/>
          </a:blip>
          <a:srcRect b="0" l="0" r="0" t="0"/>
          <a:stretch/>
        </p:blipFill>
        <p:spPr>
          <a:xfrm>
            <a:off x="1611419" y="2263000"/>
            <a:ext cx="1846628" cy="3581338"/>
          </a:xfrm>
          <a:prstGeom prst="rect">
            <a:avLst/>
          </a:prstGeom>
          <a:noFill/>
          <a:ln>
            <a:noFill/>
          </a:ln>
        </p:spPr>
      </p:pic>
      <p:pic>
        <p:nvPicPr>
          <p:cNvPr id="39" name="Google Shape;39;p2"/>
          <p:cNvPicPr preferRelativeResize="0"/>
          <p:nvPr/>
        </p:nvPicPr>
        <p:blipFill rotWithShape="1">
          <a:blip r:embed="rId7">
            <a:alphaModFix/>
          </a:blip>
          <a:srcRect b="16684" l="0" r="13255" t="0"/>
          <a:stretch/>
        </p:blipFill>
        <p:spPr>
          <a:xfrm>
            <a:off x="7491662" y="3205143"/>
            <a:ext cx="3962403" cy="2124312"/>
          </a:xfrm>
          <a:prstGeom prst="rect">
            <a:avLst/>
          </a:prstGeom>
          <a:noFill/>
          <a:ln>
            <a:noFill/>
          </a:ln>
        </p:spPr>
      </p:pic>
      <p:pic>
        <p:nvPicPr>
          <p:cNvPr id="40" name="Google Shape;40;p2"/>
          <p:cNvPicPr preferRelativeResize="0"/>
          <p:nvPr/>
        </p:nvPicPr>
        <p:blipFill rotWithShape="1">
          <a:blip r:embed="rId8">
            <a:alphaModFix/>
          </a:blip>
          <a:srcRect b="0" l="14032" r="0" t="0"/>
          <a:stretch/>
        </p:blipFill>
        <p:spPr>
          <a:xfrm>
            <a:off x="3977468" y="3205143"/>
            <a:ext cx="3282557" cy="21474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3"/>
          <p:cNvSpPr/>
          <p:nvPr/>
        </p:nvSpPr>
        <p:spPr>
          <a:xfrm>
            <a:off x="952500" y="4222075"/>
            <a:ext cx="10173900" cy="1692900"/>
          </a:xfrm>
          <a:prstGeom prst="roundRect">
            <a:avLst>
              <a:gd fmla="val 18182" name="adj"/>
            </a:avLst>
          </a:prstGeom>
          <a:solidFill>
            <a:srgbClr val="EEF6FC"/>
          </a:solidFill>
          <a:ln cap="flat" cmpd="sng" w="9525">
            <a:solidFill>
              <a:srgbClr val="EEF6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7" name="Google Shape;47;p3"/>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48" name="Google Shape;48;p3"/>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49" name="Google Shape;49;p3"/>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50" name="Google Shape;50;p3"/>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TUJUAN ANALISIS</a:t>
            </a:r>
            <a:endParaRPr b="0" i="0" sz="1800" u="none" cap="none" strike="noStrike">
              <a:solidFill>
                <a:srgbClr val="000000"/>
              </a:solidFill>
              <a:latin typeface="Arial"/>
              <a:ea typeface="Arial"/>
              <a:cs typeface="Arial"/>
              <a:sym typeface="Arial"/>
            </a:endParaRPr>
          </a:p>
        </p:txBody>
      </p:sp>
      <p:sp>
        <p:nvSpPr>
          <p:cNvPr id="51" name="Google Shape;51;p3"/>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 name="Google Shape;52;p3"/>
          <p:cNvSpPr/>
          <p:nvPr/>
        </p:nvSpPr>
        <p:spPr>
          <a:xfrm>
            <a:off x="1930565" y="2317080"/>
            <a:ext cx="876300" cy="876300"/>
          </a:xfrm>
          <a:prstGeom prst="ellipse">
            <a:avLst/>
          </a:prstGeom>
          <a:solidFill>
            <a:srgbClr val="FFFFFF"/>
          </a:solidFill>
          <a:ln cap="flat" cmpd="sng" w="76200">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3"/>
          <p:cNvSpPr/>
          <p:nvPr/>
        </p:nvSpPr>
        <p:spPr>
          <a:xfrm>
            <a:off x="1930565" y="2564730"/>
            <a:ext cx="876300" cy="342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800"/>
              <a:buFont typeface="Calibri"/>
              <a:buNone/>
            </a:pPr>
            <a:r>
              <a:rPr b="1" i="0" lang="en-US" sz="1800" u="none" cap="none" strike="noStrike">
                <a:solidFill>
                  <a:srgbClr val="073B78"/>
                </a:solidFill>
                <a:latin typeface="Calibri"/>
                <a:ea typeface="Calibri"/>
                <a:cs typeface="Calibri"/>
                <a:sym typeface="Calibri"/>
              </a:rPr>
              <a:t>01</a:t>
            </a:r>
            <a:endParaRPr b="0" i="0" sz="1800" u="none" cap="none" strike="noStrike">
              <a:solidFill>
                <a:srgbClr val="000000"/>
              </a:solidFill>
              <a:latin typeface="Arial"/>
              <a:ea typeface="Arial"/>
              <a:cs typeface="Arial"/>
              <a:sym typeface="Arial"/>
            </a:endParaRPr>
          </a:p>
        </p:txBody>
      </p:sp>
      <p:sp>
        <p:nvSpPr>
          <p:cNvPr id="54" name="Google Shape;54;p3"/>
          <p:cNvSpPr/>
          <p:nvPr/>
        </p:nvSpPr>
        <p:spPr>
          <a:xfrm>
            <a:off x="1131968" y="3383880"/>
            <a:ext cx="2571750" cy="704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725"/>
              <a:buFont typeface="Calibri"/>
              <a:buNone/>
            </a:pPr>
            <a:r>
              <a:rPr b="1" i="0" lang="en-US" sz="1725" u="none" cap="none" strike="noStrike">
                <a:solidFill>
                  <a:srgbClr val="0B0F14"/>
                </a:solidFill>
                <a:latin typeface="Calibri"/>
                <a:ea typeface="Calibri"/>
                <a:cs typeface="Calibri"/>
                <a:sym typeface="Calibri"/>
              </a:rPr>
              <a:t>Bagaimana sentimen</a:t>
            </a:r>
            <a:endParaRPr b="1" i="0" sz="1725" u="none" cap="none" strike="noStrike">
              <a:solidFill>
                <a:srgbClr val="0B0F14"/>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725"/>
              <a:buFont typeface="Arial"/>
              <a:buNone/>
            </a:pPr>
            <a:r>
              <a:rPr b="1" i="0" lang="en-US" sz="1725" u="none" cap="none" strike="noStrike">
                <a:solidFill>
                  <a:srgbClr val="0B0F14"/>
                </a:solidFill>
                <a:latin typeface="Calibri"/>
                <a:ea typeface="Calibri"/>
                <a:cs typeface="Calibri"/>
                <a:sym typeface="Calibri"/>
              </a:rPr>
              <a:t>pengguna?</a:t>
            </a:r>
            <a:endParaRPr b="0" i="0" sz="1400" u="none" cap="none" strike="noStrike">
              <a:solidFill>
                <a:srgbClr val="000000"/>
              </a:solidFill>
              <a:latin typeface="Arial"/>
              <a:ea typeface="Arial"/>
              <a:cs typeface="Arial"/>
              <a:sym typeface="Arial"/>
            </a:endParaRPr>
          </a:p>
        </p:txBody>
      </p:sp>
      <p:sp>
        <p:nvSpPr>
          <p:cNvPr id="55" name="Google Shape;55;p3"/>
          <p:cNvSpPr/>
          <p:nvPr/>
        </p:nvSpPr>
        <p:spPr>
          <a:xfrm>
            <a:off x="1036725" y="4222072"/>
            <a:ext cx="2762100" cy="163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350"/>
              <a:buFont typeface="Calibri"/>
              <a:buNone/>
            </a:pPr>
            <a:r>
              <a:rPr b="0" i="0" lang="en-US" sz="2000" u="none" cap="none" strike="noStrike">
                <a:solidFill>
                  <a:srgbClr val="2D3748"/>
                </a:solidFill>
                <a:latin typeface="Calibri"/>
                <a:ea typeface="Calibri"/>
                <a:cs typeface="Calibri"/>
                <a:sym typeface="Calibri"/>
              </a:rPr>
              <a:t>Mengidentifikasi kecenderungan sentimen negatif, netral, dan positif pada ulasan pengguna.</a:t>
            </a:r>
            <a:endParaRPr b="0" i="0" sz="2000" u="none" cap="none" strike="noStrike">
              <a:solidFill>
                <a:srgbClr val="000000"/>
              </a:solidFill>
              <a:latin typeface="Arial"/>
              <a:ea typeface="Arial"/>
              <a:cs typeface="Arial"/>
              <a:sym typeface="Arial"/>
            </a:endParaRPr>
          </a:p>
        </p:txBody>
      </p:sp>
      <p:sp>
        <p:nvSpPr>
          <p:cNvPr id="56" name="Google Shape;56;p3"/>
          <p:cNvSpPr/>
          <p:nvPr/>
        </p:nvSpPr>
        <p:spPr>
          <a:xfrm>
            <a:off x="5454815" y="2317080"/>
            <a:ext cx="876300" cy="876300"/>
          </a:xfrm>
          <a:prstGeom prst="ellipse">
            <a:avLst/>
          </a:prstGeom>
          <a:solidFill>
            <a:srgbClr val="FFFFFF"/>
          </a:solidFill>
          <a:ln cap="flat" cmpd="sng" w="76200">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3"/>
          <p:cNvSpPr/>
          <p:nvPr/>
        </p:nvSpPr>
        <p:spPr>
          <a:xfrm>
            <a:off x="5454815" y="2564730"/>
            <a:ext cx="876300" cy="342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1800"/>
              <a:buFont typeface="Calibri"/>
              <a:buNone/>
            </a:pPr>
            <a:r>
              <a:rPr b="1" i="0" lang="en-US" sz="1800" u="none" cap="none" strike="noStrike">
                <a:solidFill>
                  <a:srgbClr val="37B8B3"/>
                </a:solidFill>
                <a:latin typeface="Calibri"/>
                <a:ea typeface="Calibri"/>
                <a:cs typeface="Calibri"/>
                <a:sym typeface="Calibri"/>
              </a:rPr>
              <a:t>02</a:t>
            </a:r>
            <a:endParaRPr b="0" i="0" sz="1800" u="none" cap="none" strike="noStrike">
              <a:solidFill>
                <a:srgbClr val="000000"/>
              </a:solidFill>
              <a:latin typeface="Arial"/>
              <a:ea typeface="Arial"/>
              <a:cs typeface="Arial"/>
              <a:sym typeface="Arial"/>
            </a:endParaRPr>
          </a:p>
        </p:txBody>
      </p:sp>
      <p:sp>
        <p:nvSpPr>
          <p:cNvPr id="58" name="Google Shape;58;p3"/>
          <p:cNvSpPr/>
          <p:nvPr/>
        </p:nvSpPr>
        <p:spPr>
          <a:xfrm>
            <a:off x="4656218" y="3383880"/>
            <a:ext cx="2571750" cy="704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725"/>
              <a:buFont typeface="Calibri"/>
              <a:buNone/>
            </a:pPr>
            <a:r>
              <a:rPr b="1" i="0" lang="en-US" sz="1725" u="none" cap="none" strike="noStrike">
                <a:solidFill>
                  <a:srgbClr val="0B0F14"/>
                </a:solidFill>
                <a:latin typeface="Calibri"/>
                <a:ea typeface="Calibri"/>
                <a:cs typeface="Calibri"/>
                <a:sym typeface="Calibri"/>
              </a:rPr>
              <a:t>Kapan ulasan paling</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25"/>
              <a:buFont typeface="Arial"/>
              <a:buNone/>
            </a:pPr>
            <a:r>
              <a:rPr b="1" i="0" lang="en-US" sz="1725" u="none" cap="none" strike="noStrike">
                <a:solidFill>
                  <a:srgbClr val="0B0F14"/>
                </a:solidFill>
                <a:latin typeface="Calibri"/>
                <a:ea typeface="Calibri"/>
                <a:cs typeface="Calibri"/>
                <a:sym typeface="Calibri"/>
              </a:rPr>
              <a:t>banyak masuk?</a:t>
            </a:r>
            <a:endParaRPr b="0" i="0" sz="1400" u="none" cap="none" strike="noStrike">
              <a:solidFill>
                <a:srgbClr val="000000"/>
              </a:solidFill>
              <a:latin typeface="Arial"/>
              <a:ea typeface="Arial"/>
              <a:cs typeface="Arial"/>
              <a:sym typeface="Arial"/>
            </a:endParaRPr>
          </a:p>
        </p:txBody>
      </p:sp>
      <p:sp>
        <p:nvSpPr>
          <p:cNvPr id="59" name="Google Shape;59;p3"/>
          <p:cNvSpPr/>
          <p:nvPr/>
        </p:nvSpPr>
        <p:spPr>
          <a:xfrm>
            <a:off x="4560825" y="4279223"/>
            <a:ext cx="2762400" cy="149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350"/>
              <a:buFont typeface="Calibri"/>
              <a:buNone/>
            </a:pPr>
            <a:r>
              <a:rPr b="0" i="0" lang="en-US" sz="2000" u="none" cap="none" strike="noStrike">
                <a:solidFill>
                  <a:srgbClr val="2D3748"/>
                </a:solidFill>
                <a:latin typeface="Calibri"/>
                <a:ea typeface="Calibri"/>
                <a:cs typeface="Calibri"/>
                <a:sym typeface="Calibri"/>
              </a:rPr>
              <a:t>Mengetahui pola waktu ulasan berdasarkan bulan dan jam pengiriman.</a:t>
            </a:r>
            <a:endParaRPr b="0" i="0" sz="2000" u="none" cap="none" strike="noStrike">
              <a:solidFill>
                <a:srgbClr val="000000"/>
              </a:solidFill>
              <a:latin typeface="Arial"/>
              <a:ea typeface="Arial"/>
              <a:cs typeface="Arial"/>
              <a:sym typeface="Arial"/>
            </a:endParaRPr>
          </a:p>
        </p:txBody>
      </p:sp>
      <p:sp>
        <p:nvSpPr>
          <p:cNvPr id="60" name="Google Shape;60;p3"/>
          <p:cNvSpPr/>
          <p:nvPr/>
        </p:nvSpPr>
        <p:spPr>
          <a:xfrm>
            <a:off x="8979065" y="2317080"/>
            <a:ext cx="876300" cy="876300"/>
          </a:xfrm>
          <a:prstGeom prst="ellipse">
            <a:avLst/>
          </a:prstGeom>
          <a:solidFill>
            <a:srgbClr val="FFFFFF"/>
          </a:solidFill>
          <a:ln cap="flat" cmpd="sng" w="76200">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3"/>
          <p:cNvSpPr/>
          <p:nvPr/>
        </p:nvSpPr>
        <p:spPr>
          <a:xfrm>
            <a:off x="8979065" y="2564730"/>
            <a:ext cx="876300" cy="342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3A9E1"/>
              </a:buClr>
              <a:buSzPts val="1800"/>
              <a:buFont typeface="Calibri"/>
              <a:buNone/>
            </a:pPr>
            <a:r>
              <a:rPr b="1" i="0" lang="en-US" sz="1800" u="none" cap="none" strike="noStrike">
                <a:solidFill>
                  <a:srgbClr val="23A9E1"/>
                </a:solidFill>
                <a:latin typeface="Calibri"/>
                <a:ea typeface="Calibri"/>
                <a:cs typeface="Calibri"/>
                <a:sym typeface="Calibri"/>
              </a:rPr>
              <a:t>03</a:t>
            </a:r>
            <a:endParaRPr b="0" i="0" sz="1800" u="none" cap="none" strike="noStrike">
              <a:solidFill>
                <a:srgbClr val="000000"/>
              </a:solidFill>
              <a:latin typeface="Arial"/>
              <a:ea typeface="Arial"/>
              <a:cs typeface="Arial"/>
              <a:sym typeface="Arial"/>
            </a:endParaRPr>
          </a:p>
        </p:txBody>
      </p:sp>
      <p:sp>
        <p:nvSpPr>
          <p:cNvPr id="62" name="Google Shape;62;p3"/>
          <p:cNvSpPr/>
          <p:nvPr/>
        </p:nvSpPr>
        <p:spPr>
          <a:xfrm>
            <a:off x="8180468" y="3383880"/>
            <a:ext cx="2571750" cy="704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725"/>
              <a:buFont typeface="Calibri"/>
              <a:buNone/>
            </a:pPr>
            <a:r>
              <a:rPr b="1" i="0" lang="en-US" sz="1725" u="none" cap="none" strike="noStrike">
                <a:solidFill>
                  <a:srgbClr val="0B0F14"/>
                </a:solidFill>
                <a:latin typeface="Calibri"/>
                <a:ea typeface="Calibri"/>
                <a:cs typeface="Calibri"/>
                <a:sym typeface="Calibri"/>
              </a:rPr>
              <a:t>Apa tema utama</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25"/>
              <a:buFont typeface="Arial"/>
              <a:buNone/>
            </a:pPr>
            <a:r>
              <a:rPr b="1" i="0" lang="en-US" sz="1725" u="none" cap="none" strike="noStrike">
                <a:solidFill>
                  <a:srgbClr val="0B0F14"/>
                </a:solidFill>
                <a:latin typeface="Calibri"/>
                <a:ea typeface="Calibri"/>
                <a:cs typeface="Calibri"/>
                <a:sym typeface="Calibri"/>
              </a:rPr>
              <a:t>dalam ulasan?</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8085225" y="4279223"/>
            <a:ext cx="2762100" cy="1382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350"/>
              <a:buFont typeface="Calibri"/>
              <a:buNone/>
            </a:pPr>
            <a:r>
              <a:rPr b="0" i="0" lang="en-US" sz="2000" u="none" cap="none" strike="noStrike">
                <a:solidFill>
                  <a:srgbClr val="2D3748"/>
                </a:solidFill>
                <a:latin typeface="Calibri"/>
                <a:ea typeface="Calibri"/>
                <a:cs typeface="Calibri"/>
                <a:sym typeface="Calibri"/>
              </a:rPr>
              <a:t>Mengidentifikasi topik keluhan dan pujian yang paling sering dibahas pengguna.</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4"/>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ALGORITMA YANG DIGUNAKAN</a:t>
            </a:r>
            <a:endParaRPr b="0" i="0" sz="1800" u="none" cap="none" strike="noStrike">
              <a:solidFill>
                <a:srgbClr val="000000"/>
              </a:solidFill>
              <a:latin typeface="Arial"/>
              <a:ea typeface="Arial"/>
              <a:cs typeface="Arial"/>
              <a:sym typeface="Arial"/>
            </a:endParaRPr>
          </a:p>
        </p:txBody>
      </p:sp>
      <p:sp>
        <p:nvSpPr>
          <p:cNvPr id="70" name="Google Shape;70;p4"/>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4"/>
          <p:cNvSpPr/>
          <p:nvPr/>
        </p:nvSpPr>
        <p:spPr>
          <a:xfrm>
            <a:off x="2139113" y="2416841"/>
            <a:ext cx="1000125" cy="1000125"/>
          </a:xfrm>
          <a:prstGeom prst="ellipse">
            <a:avLst/>
          </a:prstGeom>
          <a:solidFill>
            <a:srgbClr val="FFFFFF"/>
          </a:solidFill>
          <a:ln cap="flat" cmpd="sng" w="95250">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4"/>
          <p:cNvSpPr/>
          <p:nvPr/>
        </p:nvSpPr>
        <p:spPr>
          <a:xfrm>
            <a:off x="2139113" y="2740691"/>
            <a:ext cx="1000125"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1725"/>
              <a:buFont typeface="Calibri"/>
              <a:buNone/>
            </a:pPr>
            <a:r>
              <a:rPr b="1" i="0" lang="en-US" sz="1725" u="none" cap="none" strike="noStrike">
                <a:solidFill>
                  <a:srgbClr val="37B8B3"/>
                </a:solidFill>
                <a:latin typeface="Calibri"/>
                <a:ea typeface="Calibri"/>
                <a:cs typeface="Calibri"/>
                <a:sym typeface="Calibri"/>
              </a:rPr>
              <a:t>01</a:t>
            </a:r>
            <a:endParaRPr b="0" i="0" sz="1800" u="none" cap="none" strike="noStrike">
              <a:solidFill>
                <a:srgbClr val="000000"/>
              </a:solidFill>
              <a:latin typeface="Arial"/>
              <a:ea typeface="Arial"/>
              <a:cs typeface="Arial"/>
              <a:sym typeface="Arial"/>
            </a:endParaRPr>
          </a:p>
        </p:txBody>
      </p:sp>
      <p:sp>
        <p:nvSpPr>
          <p:cNvPr id="73" name="Google Shape;73;p4"/>
          <p:cNvSpPr/>
          <p:nvPr/>
        </p:nvSpPr>
        <p:spPr>
          <a:xfrm>
            <a:off x="1710488" y="3655091"/>
            <a:ext cx="1857375"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1125"/>
              <a:buFont typeface="Calibri"/>
              <a:buNone/>
            </a:pPr>
            <a:r>
              <a:rPr b="1" i="0" lang="en-US" sz="1125" u="none" cap="none" strike="noStrike">
                <a:solidFill>
                  <a:srgbClr val="37B8B3"/>
                </a:solidFill>
                <a:latin typeface="Calibri"/>
                <a:ea typeface="Calibri"/>
                <a:cs typeface="Calibri"/>
                <a:sym typeface="Calibri"/>
              </a:rPr>
              <a:t>Model 1</a:t>
            </a:r>
            <a:endParaRPr b="0" i="0" sz="1800" u="none" cap="none" strike="noStrike">
              <a:solidFill>
                <a:srgbClr val="000000"/>
              </a:solidFill>
              <a:latin typeface="Arial"/>
              <a:ea typeface="Arial"/>
              <a:cs typeface="Arial"/>
              <a:sym typeface="Arial"/>
            </a:endParaRPr>
          </a:p>
        </p:txBody>
      </p:sp>
      <p:sp>
        <p:nvSpPr>
          <p:cNvPr id="74" name="Google Shape;74;p4"/>
          <p:cNvSpPr/>
          <p:nvPr/>
        </p:nvSpPr>
        <p:spPr>
          <a:xfrm>
            <a:off x="1491413" y="3940841"/>
            <a:ext cx="2286000" cy="704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950"/>
              <a:buFont typeface="Calibri"/>
              <a:buNone/>
            </a:pPr>
            <a:r>
              <a:rPr b="1" i="0" lang="en-US" sz="1950" u="none" cap="none" strike="noStrike">
                <a:solidFill>
                  <a:srgbClr val="0B0F14"/>
                </a:solidFill>
                <a:latin typeface="Calibri"/>
                <a:ea typeface="Calibri"/>
                <a:cs typeface="Calibri"/>
                <a:sym typeface="Calibri"/>
              </a:rPr>
              <a:t>Naive Bayes</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50"/>
              <a:buFont typeface="Arial"/>
              <a:buNone/>
            </a:pPr>
            <a:r>
              <a:t/>
            </a:r>
            <a:endParaRPr b="1" i="0" sz="1950" u="none" cap="none" strike="noStrike">
              <a:solidFill>
                <a:srgbClr val="0B0F14"/>
              </a:solidFill>
              <a:latin typeface="Calibri"/>
              <a:ea typeface="Calibri"/>
              <a:cs typeface="Calibri"/>
              <a:sym typeface="Calibri"/>
            </a:endParaRPr>
          </a:p>
        </p:txBody>
      </p:sp>
      <p:sp>
        <p:nvSpPr>
          <p:cNvPr id="75" name="Google Shape;75;p4"/>
          <p:cNvSpPr/>
          <p:nvPr/>
        </p:nvSpPr>
        <p:spPr>
          <a:xfrm>
            <a:off x="1331995" y="4429125"/>
            <a:ext cx="2636920" cy="857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275"/>
              <a:buFont typeface="Calibri"/>
              <a:buNone/>
            </a:pPr>
            <a:r>
              <a:rPr b="0" i="0" lang="en-US" sz="1275" u="none" cap="none" strike="noStrike">
                <a:solidFill>
                  <a:srgbClr val="2D3748"/>
                </a:solidFill>
                <a:latin typeface="Calibri"/>
                <a:ea typeface="Calibri"/>
                <a:cs typeface="Calibri"/>
                <a:sym typeface="Calibri"/>
              </a:rPr>
              <a:t>Model probabilistik yang menjadi baseline cepat untuk klasifikasi teks.</a:t>
            </a:r>
            <a:endParaRPr b="0" i="0" sz="1800" u="none" cap="none" strike="noStrike">
              <a:solidFill>
                <a:srgbClr val="000000"/>
              </a:solidFill>
              <a:latin typeface="Arial"/>
              <a:ea typeface="Arial"/>
              <a:cs typeface="Arial"/>
              <a:sym typeface="Arial"/>
            </a:endParaRPr>
          </a:p>
        </p:txBody>
      </p:sp>
      <p:sp>
        <p:nvSpPr>
          <p:cNvPr id="76" name="Google Shape;76;p4"/>
          <p:cNvSpPr/>
          <p:nvPr/>
        </p:nvSpPr>
        <p:spPr>
          <a:xfrm>
            <a:off x="5663363" y="2416841"/>
            <a:ext cx="1000125" cy="1000125"/>
          </a:xfrm>
          <a:prstGeom prst="ellipse">
            <a:avLst/>
          </a:prstGeom>
          <a:solidFill>
            <a:srgbClr val="FFFFFF"/>
          </a:solidFill>
          <a:ln cap="flat" cmpd="sng" w="95250">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 name="Google Shape;77;p4"/>
          <p:cNvSpPr/>
          <p:nvPr/>
        </p:nvSpPr>
        <p:spPr>
          <a:xfrm>
            <a:off x="5663363" y="2740691"/>
            <a:ext cx="1000125"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725"/>
              <a:buFont typeface="Calibri"/>
              <a:buNone/>
            </a:pPr>
            <a:r>
              <a:rPr b="1" i="0" lang="en-US" sz="1725" u="none" cap="none" strike="noStrike">
                <a:solidFill>
                  <a:srgbClr val="073B78"/>
                </a:solidFill>
                <a:latin typeface="Calibri"/>
                <a:ea typeface="Calibri"/>
                <a:cs typeface="Calibri"/>
                <a:sym typeface="Calibri"/>
              </a:rPr>
              <a:t>02</a:t>
            </a:r>
            <a:endParaRPr b="0" i="0" sz="1800" u="none" cap="none" strike="noStrike">
              <a:solidFill>
                <a:srgbClr val="000000"/>
              </a:solidFill>
              <a:latin typeface="Arial"/>
              <a:ea typeface="Arial"/>
              <a:cs typeface="Arial"/>
              <a:sym typeface="Arial"/>
            </a:endParaRPr>
          </a:p>
        </p:txBody>
      </p:sp>
      <p:sp>
        <p:nvSpPr>
          <p:cNvPr id="78" name="Google Shape;78;p4"/>
          <p:cNvSpPr/>
          <p:nvPr/>
        </p:nvSpPr>
        <p:spPr>
          <a:xfrm>
            <a:off x="5234738" y="3655091"/>
            <a:ext cx="1857375"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125"/>
              <a:buFont typeface="Calibri"/>
              <a:buNone/>
            </a:pPr>
            <a:r>
              <a:rPr b="1" i="0" lang="en-US" sz="1125" u="none" cap="none" strike="noStrike">
                <a:solidFill>
                  <a:srgbClr val="073B78"/>
                </a:solidFill>
                <a:latin typeface="Calibri"/>
                <a:ea typeface="Calibri"/>
                <a:cs typeface="Calibri"/>
                <a:sym typeface="Calibri"/>
              </a:rPr>
              <a:t>MODEL 02</a:t>
            </a:r>
            <a:endParaRPr b="0" i="0" sz="1800" u="none" cap="none" strike="noStrike">
              <a:solidFill>
                <a:srgbClr val="000000"/>
              </a:solidFill>
              <a:latin typeface="Arial"/>
              <a:ea typeface="Arial"/>
              <a:cs typeface="Arial"/>
              <a:sym typeface="Arial"/>
            </a:endParaRPr>
          </a:p>
        </p:txBody>
      </p:sp>
      <p:sp>
        <p:nvSpPr>
          <p:cNvPr id="79" name="Google Shape;79;p4"/>
          <p:cNvSpPr/>
          <p:nvPr/>
        </p:nvSpPr>
        <p:spPr>
          <a:xfrm>
            <a:off x="5015663" y="3940841"/>
            <a:ext cx="2286000" cy="704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950"/>
              <a:buFont typeface="Calibri"/>
              <a:buNone/>
            </a:pPr>
            <a:r>
              <a:rPr b="1" i="0" lang="en-US" sz="1950" u="none" cap="none" strike="noStrike">
                <a:solidFill>
                  <a:srgbClr val="0B0F14"/>
                </a:solidFill>
                <a:latin typeface="Calibri"/>
                <a:ea typeface="Calibri"/>
                <a:cs typeface="Calibri"/>
                <a:sym typeface="Calibri"/>
              </a:rPr>
              <a:t>Logistic Regression</a:t>
            </a:r>
            <a:endParaRPr b="1" i="0" sz="1950" u="none" cap="none" strike="noStrike">
              <a:solidFill>
                <a:srgbClr val="0B0F14"/>
              </a:solidFill>
              <a:latin typeface="Calibri"/>
              <a:ea typeface="Calibri"/>
              <a:cs typeface="Calibri"/>
              <a:sym typeface="Calibri"/>
            </a:endParaRPr>
          </a:p>
        </p:txBody>
      </p:sp>
      <p:sp>
        <p:nvSpPr>
          <p:cNvPr id="80" name="Google Shape;80;p4"/>
          <p:cNvSpPr/>
          <p:nvPr/>
        </p:nvSpPr>
        <p:spPr>
          <a:xfrm>
            <a:off x="4567986" y="4429125"/>
            <a:ext cx="3329737" cy="857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275"/>
              <a:buFont typeface="Calibri"/>
              <a:buNone/>
            </a:pPr>
            <a:r>
              <a:rPr b="0" i="0" lang="en-US" sz="1275" u="none" cap="none" strike="noStrike">
                <a:solidFill>
                  <a:srgbClr val="2D3748"/>
                </a:solidFill>
                <a:latin typeface="Calibri"/>
                <a:ea typeface="Calibri"/>
                <a:cs typeface="Calibri"/>
                <a:sym typeface="Calibri"/>
              </a:rPr>
              <a:t>Model linear yang memprediksi probabilitas kelas sentimen berdasarkan bobot fitur teks.</a:t>
            </a:r>
            <a:endParaRPr b="0" i="0" sz="1275" u="none" cap="none" strike="noStrike">
              <a:solidFill>
                <a:srgbClr val="2D3748"/>
              </a:solidFill>
              <a:latin typeface="Calibri"/>
              <a:ea typeface="Calibri"/>
              <a:cs typeface="Calibri"/>
              <a:sym typeface="Calibri"/>
            </a:endParaRPr>
          </a:p>
        </p:txBody>
      </p:sp>
      <p:sp>
        <p:nvSpPr>
          <p:cNvPr id="81" name="Google Shape;81;p4"/>
          <p:cNvSpPr/>
          <p:nvPr/>
        </p:nvSpPr>
        <p:spPr>
          <a:xfrm>
            <a:off x="9187613" y="2416841"/>
            <a:ext cx="1000125" cy="1000125"/>
          </a:xfrm>
          <a:prstGeom prst="ellipse">
            <a:avLst/>
          </a:prstGeom>
          <a:solidFill>
            <a:srgbClr val="FFFFFF"/>
          </a:solidFill>
          <a:ln cap="flat" cmpd="sng" w="95250">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4"/>
          <p:cNvSpPr/>
          <p:nvPr/>
        </p:nvSpPr>
        <p:spPr>
          <a:xfrm>
            <a:off x="9187613" y="2740691"/>
            <a:ext cx="1000125"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3A9E1"/>
              </a:buClr>
              <a:buSzPts val="1725"/>
              <a:buFont typeface="Calibri"/>
              <a:buNone/>
            </a:pPr>
            <a:r>
              <a:rPr b="1" i="0" lang="en-US" sz="1725" u="none" cap="none" strike="noStrike">
                <a:solidFill>
                  <a:srgbClr val="23A9E1"/>
                </a:solidFill>
                <a:latin typeface="Calibri"/>
                <a:ea typeface="Calibri"/>
                <a:cs typeface="Calibri"/>
                <a:sym typeface="Calibri"/>
              </a:rPr>
              <a:t>03</a:t>
            </a:r>
            <a:endParaRPr b="0" i="0" sz="1800" u="none" cap="none" strike="noStrike">
              <a:solidFill>
                <a:srgbClr val="000000"/>
              </a:solidFill>
              <a:latin typeface="Arial"/>
              <a:ea typeface="Arial"/>
              <a:cs typeface="Arial"/>
              <a:sym typeface="Arial"/>
            </a:endParaRPr>
          </a:p>
        </p:txBody>
      </p:sp>
      <p:sp>
        <p:nvSpPr>
          <p:cNvPr id="83" name="Google Shape;83;p4"/>
          <p:cNvSpPr/>
          <p:nvPr/>
        </p:nvSpPr>
        <p:spPr>
          <a:xfrm>
            <a:off x="8758988" y="3655091"/>
            <a:ext cx="1857375"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3A9E1"/>
              </a:buClr>
              <a:buSzPts val="1125"/>
              <a:buFont typeface="Calibri"/>
              <a:buNone/>
            </a:pPr>
            <a:r>
              <a:rPr b="1" i="0" lang="en-US" sz="1125" u="none" cap="none" strike="noStrike">
                <a:solidFill>
                  <a:srgbClr val="23A9E1"/>
                </a:solidFill>
                <a:latin typeface="Calibri"/>
                <a:ea typeface="Calibri"/>
                <a:cs typeface="Calibri"/>
                <a:sym typeface="Calibri"/>
              </a:rPr>
              <a:t>MODEL 03</a:t>
            </a:r>
            <a:endParaRPr b="0" i="0" sz="1800" u="none" cap="none" strike="noStrike">
              <a:solidFill>
                <a:srgbClr val="000000"/>
              </a:solidFill>
              <a:latin typeface="Arial"/>
              <a:ea typeface="Arial"/>
              <a:cs typeface="Arial"/>
              <a:sym typeface="Arial"/>
            </a:endParaRPr>
          </a:p>
        </p:txBody>
      </p:sp>
      <p:sp>
        <p:nvSpPr>
          <p:cNvPr id="84" name="Google Shape;84;p4"/>
          <p:cNvSpPr/>
          <p:nvPr/>
        </p:nvSpPr>
        <p:spPr>
          <a:xfrm>
            <a:off x="8539913" y="3940841"/>
            <a:ext cx="2286000" cy="704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950"/>
              <a:buFont typeface="Calibri"/>
              <a:buNone/>
            </a:pPr>
            <a:r>
              <a:rPr b="1" i="0" lang="en-US" sz="1950" u="none" cap="none" strike="noStrike">
                <a:solidFill>
                  <a:srgbClr val="0B0F14"/>
                </a:solidFill>
                <a:latin typeface="Calibri"/>
                <a:ea typeface="Calibri"/>
                <a:cs typeface="Calibri"/>
                <a:sym typeface="Calibri"/>
              </a:rPr>
              <a:t>Linear SVM</a:t>
            </a:r>
            <a:endParaRPr b="0" i="0" sz="1800" u="none" cap="none" strike="noStrike">
              <a:solidFill>
                <a:srgbClr val="000000"/>
              </a:solidFill>
              <a:latin typeface="Arial"/>
              <a:ea typeface="Arial"/>
              <a:cs typeface="Arial"/>
              <a:sym typeface="Arial"/>
            </a:endParaRPr>
          </a:p>
        </p:txBody>
      </p:sp>
      <p:sp>
        <p:nvSpPr>
          <p:cNvPr id="85" name="Google Shape;85;p4"/>
          <p:cNvSpPr/>
          <p:nvPr/>
        </p:nvSpPr>
        <p:spPr>
          <a:xfrm>
            <a:off x="8261682" y="4429125"/>
            <a:ext cx="2964279" cy="857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275"/>
              <a:buFont typeface="Calibri"/>
              <a:buNone/>
            </a:pPr>
            <a:r>
              <a:rPr b="0" i="0" lang="en-US" sz="1275" u="none" cap="none" strike="noStrike">
                <a:solidFill>
                  <a:srgbClr val="2D3748"/>
                </a:solidFill>
                <a:latin typeface="Calibri"/>
                <a:ea typeface="Calibri"/>
                <a:cs typeface="Calibri"/>
                <a:sym typeface="Calibri"/>
              </a:rPr>
              <a:t>Model linear yang kuat untuk klasifikasi teks setelah diubah menjadi fitur TF-IDF.</a:t>
            </a:r>
            <a:endParaRPr b="0" i="0" sz="1800" u="none" cap="none" strike="noStrike">
              <a:solidFill>
                <a:srgbClr val="000000"/>
              </a:solidFill>
              <a:latin typeface="Arial"/>
              <a:ea typeface="Arial"/>
              <a:cs typeface="Arial"/>
              <a:sym typeface="Arial"/>
            </a:endParaRPr>
          </a:p>
        </p:txBody>
      </p:sp>
      <p:sp>
        <p:nvSpPr>
          <p:cNvPr id="86" name="Google Shape;86;p4"/>
          <p:cNvSpPr/>
          <p:nvPr/>
        </p:nvSpPr>
        <p:spPr>
          <a:xfrm>
            <a:off x="4033083" y="2702591"/>
            <a:ext cx="476250" cy="4286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D9E2EC"/>
              </a:buClr>
              <a:buSzPts val="2850"/>
              <a:buFont typeface="Calibri"/>
              <a:buNone/>
            </a:pPr>
            <a:r>
              <a:rPr b="1" i="0" lang="en-US" sz="2850" u="none" cap="none" strike="noStrike">
                <a:solidFill>
                  <a:srgbClr val="D9E2EC"/>
                </a:solidFill>
                <a:latin typeface="Calibri"/>
                <a:ea typeface="Calibri"/>
                <a:cs typeface="Calibri"/>
                <a:sym typeface="Calibri"/>
              </a:rPr>
              <a:t>→</a:t>
            </a:r>
            <a:endParaRPr b="0" i="0" sz="1800" u="none" cap="none" strike="noStrike">
              <a:solidFill>
                <a:srgbClr val="000000"/>
              </a:solidFill>
              <a:latin typeface="Arial"/>
              <a:ea typeface="Arial"/>
              <a:cs typeface="Arial"/>
              <a:sym typeface="Arial"/>
            </a:endParaRPr>
          </a:p>
        </p:txBody>
      </p:sp>
      <p:sp>
        <p:nvSpPr>
          <p:cNvPr id="87" name="Google Shape;87;p4"/>
          <p:cNvSpPr/>
          <p:nvPr/>
        </p:nvSpPr>
        <p:spPr>
          <a:xfrm>
            <a:off x="7657094" y="2874041"/>
            <a:ext cx="47625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75"/>
              <a:buFont typeface="Calibri"/>
              <a:buNone/>
            </a:pPr>
            <a:r>
              <a:rPr b="1" i="0" lang="en-US" sz="1275" u="none" cap="none" strike="noStrike">
                <a:solidFill>
                  <a:srgbClr val="64748B"/>
                </a:solidFill>
                <a:latin typeface="Calibri"/>
                <a:ea typeface="Calibri"/>
                <a:cs typeface="Calibri"/>
                <a:sym typeface="Calibri"/>
              </a:rPr>
              <a:t>VS</a:t>
            </a:r>
            <a:endParaRPr b="0" i="0" sz="1800" u="none" cap="none" strike="noStrike">
              <a:solidFill>
                <a:srgbClr val="000000"/>
              </a:solidFill>
              <a:latin typeface="Arial"/>
              <a:ea typeface="Arial"/>
              <a:cs typeface="Arial"/>
              <a:sym typeface="Arial"/>
            </a:endParaRPr>
          </a:p>
        </p:txBody>
      </p:sp>
      <p:sp>
        <p:nvSpPr>
          <p:cNvPr id="88" name="Google Shape;88;p4"/>
          <p:cNvSpPr/>
          <p:nvPr/>
        </p:nvSpPr>
        <p:spPr>
          <a:xfrm>
            <a:off x="1476375" y="5505450"/>
            <a:ext cx="9239250" cy="476250"/>
          </a:xfrm>
          <a:prstGeom prst="roundRect">
            <a:avLst>
              <a:gd fmla="val 24000" name="adj"/>
            </a:avLst>
          </a:prstGeom>
          <a:solidFill>
            <a:srgbClr val="EEF6FC"/>
          </a:solidFill>
          <a:ln cap="flat" cmpd="sng" w="9525">
            <a:solidFill>
              <a:srgbClr val="EEF6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4"/>
          <p:cNvSpPr/>
          <p:nvPr/>
        </p:nvSpPr>
        <p:spPr>
          <a:xfrm>
            <a:off x="1666875" y="5581149"/>
            <a:ext cx="8858250" cy="2571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425"/>
              <a:buFont typeface="Calibri"/>
              <a:buNone/>
            </a:pPr>
            <a:r>
              <a:rPr b="1" i="0" lang="en-US" sz="1425" u="none" cap="none" strike="noStrike">
                <a:solidFill>
                  <a:srgbClr val="073B78"/>
                </a:solidFill>
                <a:latin typeface="Calibri"/>
                <a:ea typeface="Calibri"/>
                <a:cs typeface="Calibri"/>
                <a:sym typeface="Calibri"/>
              </a:rPr>
              <a:t>Evaluasi: accuracy  •  precision  •  recall  •  F1-</a:t>
            </a:r>
            <a:r>
              <a:rPr b="1" lang="en-US" sz="1425">
                <a:solidFill>
                  <a:srgbClr val="073B78"/>
                </a:solidFill>
                <a:latin typeface="Calibri"/>
                <a:ea typeface="Calibri"/>
                <a:cs typeface="Calibri"/>
                <a:sym typeface="Calibri"/>
              </a:rPr>
              <a:t>macro</a:t>
            </a:r>
            <a:r>
              <a:rPr b="1" i="0" lang="en-US" sz="1425" u="none" cap="none" strike="noStrike">
                <a:solidFill>
                  <a:srgbClr val="073B78"/>
                </a:solidFill>
                <a:latin typeface="Calibri"/>
                <a:ea typeface="Calibri"/>
                <a:cs typeface="Calibri"/>
                <a:sym typeface="Calibri"/>
              </a:rPr>
              <a:t> </a:t>
            </a:r>
            <a:endParaRPr b="0" i="0" sz="1800" u="none" cap="none" strike="noStrike">
              <a:solidFill>
                <a:srgbClr val="000000"/>
              </a:solidFill>
              <a:latin typeface="Arial"/>
              <a:ea typeface="Arial"/>
              <a:cs typeface="Arial"/>
              <a:sym typeface="Arial"/>
            </a:endParaRPr>
          </a:p>
        </p:txBody>
      </p:sp>
      <p:pic>
        <p:nvPicPr>
          <p:cNvPr id="90" name="Google Shape;90;p4"/>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91" name="Google Shape;91;p4"/>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92" name="Google Shape;92;p4"/>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5"/>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ALUR PENELITIAN</a:t>
            </a:r>
            <a:endParaRPr b="0" i="0" sz="1800" u="none" cap="none" strike="noStrike">
              <a:solidFill>
                <a:srgbClr val="000000"/>
              </a:solidFill>
              <a:latin typeface="Arial"/>
              <a:ea typeface="Arial"/>
              <a:cs typeface="Arial"/>
              <a:sym typeface="Arial"/>
            </a:endParaRPr>
          </a:p>
        </p:txBody>
      </p:sp>
      <p:sp>
        <p:nvSpPr>
          <p:cNvPr id="99" name="Google Shape;99;p5"/>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5"/>
          <p:cNvSpPr/>
          <p:nvPr/>
        </p:nvSpPr>
        <p:spPr>
          <a:xfrm>
            <a:off x="1190625" y="2047875"/>
            <a:ext cx="838200" cy="838200"/>
          </a:xfrm>
          <a:prstGeom prst="ellipse">
            <a:avLst/>
          </a:prstGeom>
          <a:solidFill>
            <a:srgbClr val="FFFFFF"/>
          </a:solidFill>
          <a:ln cap="flat" cmpd="sng" w="85725">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 name="Google Shape;101;p5"/>
          <p:cNvSpPr/>
          <p:nvPr/>
        </p:nvSpPr>
        <p:spPr>
          <a:xfrm>
            <a:off x="4088731" y="2047875"/>
            <a:ext cx="838200" cy="838200"/>
          </a:xfrm>
          <a:prstGeom prst="ellipse">
            <a:avLst/>
          </a:prstGeom>
          <a:solidFill>
            <a:srgbClr val="FFFFFF"/>
          </a:solidFill>
          <a:ln cap="flat" cmpd="sng" w="85725">
            <a:solidFill>
              <a:srgbClr val="2FA7B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5"/>
          <p:cNvSpPr/>
          <p:nvPr/>
        </p:nvSpPr>
        <p:spPr>
          <a:xfrm>
            <a:off x="6986844" y="2047875"/>
            <a:ext cx="838200" cy="838200"/>
          </a:xfrm>
          <a:prstGeom prst="ellipse">
            <a:avLst/>
          </a:prstGeom>
          <a:solidFill>
            <a:srgbClr val="FFFFFF"/>
          </a:solidFill>
          <a:ln cap="flat" cmpd="sng" w="857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5"/>
          <p:cNvSpPr/>
          <p:nvPr/>
        </p:nvSpPr>
        <p:spPr>
          <a:xfrm>
            <a:off x="9986713" y="4048125"/>
            <a:ext cx="838200" cy="838200"/>
          </a:xfrm>
          <a:prstGeom prst="ellipse">
            <a:avLst/>
          </a:prstGeom>
          <a:solidFill>
            <a:srgbClr val="FFFFFF"/>
          </a:solidFill>
          <a:ln cap="flat" cmpd="sng" w="85725">
            <a:solidFill>
              <a:srgbClr val="2F8ED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5"/>
          <p:cNvSpPr/>
          <p:nvPr/>
        </p:nvSpPr>
        <p:spPr>
          <a:xfrm>
            <a:off x="4232112" y="4129075"/>
            <a:ext cx="838200" cy="838200"/>
          </a:xfrm>
          <a:prstGeom prst="ellipse">
            <a:avLst/>
          </a:prstGeom>
          <a:solidFill>
            <a:srgbClr val="FFFFFF"/>
          </a:solidFill>
          <a:ln cap="flat" cmpd="sng" w="85725">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5"/>
          <p:cNvSpPr/>
          <p:nvPr/>
        </p:nvSpPr>
        <p:spPr>
          <a:xfrm>
            <a:off x="1285879" y="4129075"/>
            <a:ext cx="838200" cy="838200"/>
          </a:xfrm>
          <a:prstGeom prst="ellipse">
            <a:avLst/>
          </a:prstGeom>
          <a:solidFill>
            <a:srgbClr val="FFFFFF"/>
          </a:solidFill>
          <a:ln cap="flat" cmpd="sng" w="85725">
            <a:solidFill>
              <a:srgbClr val="0B0F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6" name="Google Shape;106;p5"/>
          <p:cNvCxnSpPr>
            <a:stCxn id="100" idx="6"/>
            <a:endCxn id="101" idx="2"/>
          </p:cNvCxnSpPr>
          <p:nvPr/>
        </p:nvCxnSpPr>
        <p:spPr>
          <a:xfrm>
            <a:off x="2028825" y="2466975"/>
            <a:ext cx="2059800" cy="0"/>
          </a:xfrm>
          <a:prstGeom prst="straightConnector1">
            <a:avLst/>
          </a:prstGeom>
          <a:noFill/>
          <a:ln cap="flat" cmpd="sng" w="38100">
            <a:solidFill>
              <a:srgbClr val="D9E2EC"/>
            </a:solidFill>
            <a:prstDash val="solid"/>
            <a:round/>
            <a:headEnd len="sm" w="sm" type="none"/>
            <a:tailEnd len="med" w="med" type="stealth"/>
          </a:ln>
        </p:spPr>
      </p:cxnSp>
      <p:cxnSp>
        <p:nvCxnSpPr>
          <p:cNvPr id="107" name="Google Shape;107;p5"/>
          <p:cNvCxnSpPr>
            <a:stCxn id="101" idx="6"/>
            <a:endCxn id="102" idx="2"/>
          </p:cNvCxnSpPr>
          <p:nvPr/>
        </p:nvCxnSpPr>
        <p:spPr>
          <a:xfrm>
            <a:off x="4926931" y="2466975"/>
            <a:ext cx="2059800" cy="0"/>
          </a:xfrm>
          <a:prstGeom prst="straightConnector1">
            <a:avLst/>
          </a:prstGeom>
          <a:noFill/>
          <a:ln cap="flat" cmpd="sng" w="38100">
            <a:solidFill>
              <a:srgbClr val="D9E2EC"/>
            </a:solidFill>
            <a:prstDash val="solid"/>
            <a:round/>
            <a:headEnd len="sm" w="sm" type="none"/>
            <a:tailEnd len="med" w="med" type="stealth"/>
          </a:ln>
        </p:spPr>
      </p:cxnSp>
      <p:cxnSp>
        <p:nvCxnSpPr>
          <p:cNvPr id="108" name="Google Shape;108;p5"/>
          <p:cNvCxnSpPr>
            <a:stCxn id="109" idx="4"/>
            <a:endCxn id="103" idx="0"/>
          </p:cNvCxnSpPr>
          <p:nvPr/>
        </p:nvCxnSpPr>
        <p:spPr>
          <a:xfrm>
            <a:off x="10387266" y="2886075"/>
            <a:ext cx="18600" cy="1162200"/>
          </a:xfrm>
          <a:prstGeom prst="straightConnector1">
            <a:avLst/>
          </a:prstGeom>
          <a:noFill/>
          <a:ln cap="flat" cmpd="sng" w="38100">
            <a:solidFill>
              <a:srgbClr val="D9E2EC"/>
            </a:solidFill>
            <a:prstDash val="solid"/>
            <a:round/>
            <a:headEnd len="sm" w="sm" type="none"/>
            <a:tailEnd len="med" w="med" type="stealth"/>
          </a:ln>
        </p:spPr>
      </p:cxnSp>
      <p:cxnSp>
        <p:nvCxnSpPr>
          <p:cNvPr id="110" name="Google Shape;110;p5"/>
          <p:cNvCxnSpPr>
            <a:stCxn id="103" idx="2"/>
            <a:endCxn id="104" idx="6"/>
          </p:cNvCxnSpPr>
          <p:nvPr/>
        </p:nvCxnSpPr>
        <p:spPr>
          <a:xfrm flipH="1">
            <a:off x="5070313" y="4467225"/>
            <a:ext cx="4916400" cy="81000"/>
          </a:xfrm>
          <a:prstGeom prst="straightConnector1">
            <a:avLst/>
          </a:prstGeom>
          <a:noFill/>
          <a:ln cap="flat" cmpd="sng" w="38100">
            <a:solidFill>
              <a:srgbClr val="D9E2EC"/>
            </a:solidFill>
            <a:prstDash val="solid"/>
            <a:round/>
            <a:headEnd len="sm" w="sm" type="none"/>
            <a:tailEnd len="med" w="med" type="stealth"/>
          </a:ln>
        </p:spPr>
      </p:cxnSp>
      <p:cxnSp>
        <p:nvCxnSpPr>
          <p:cNvPr id="111" name="Google Shape;111;p5"/>
          <p:cNvCxnSpPr>
            <a:stCxn id="104" idx="2"/>
            <a:endCxn id="105" idx="6"/>
          </p:cNvCxnSpPr>
          <p:nvPr/>
        </p:nvCxnSpPr>
        <p:spPr>
          <a:xfrm rot="10800000">
            <a:off x="2124012" y="4548175"/>
            <a:ext cx="2108100" cy="0"/>
          </a:xfrm>
          <a:prstGeom prst="straightConnector1">
            <a:avLst/>
          </a:prstGeom>
          <a:noFill/>
          <a:ln cap="flat" cmpd="sng" w="38100">
            <a:solidFill>
              <a:srgbClr val="D9E2EC"/>
            </a:solidFill>
            <a:prstDash val="solid"/>
            <a:round/>
            <a:headEnd len="sm" w="sm" type="none"/>
            <a:tailEnd len="med" w="med" type="stealth"/>
          </a:ln>
        </p:spPr>
      </p:cxnSp>
      <p:sp>
        <p:nvSpPr>
          <p:cNvPr id="112" name="Google Shape;112;p5"/>
          <p:cNvSpPr/>
          <p:nvPr/>
        </p:nvSpPr>
        <p:spPr>
          <a:xfrm>
            <a:off x="1190625" y="2314575"/>
            <a:ext cx="838200"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1650"/>
              <a:buFont typeface="Calibri"/>
              <a:buNone/>
            </a:pPr>
            <a:r>
              <a:rPr b="1" i="0" lang="en-US" sz="1650" u="none" cap="none" strike="noStrike">
                <a:solidFill>
                  <a:srgbClr val="37B8B3"/>
                </a:solidFill>
                <a:latin typeface="Calibri"/>
                <a:ea typeface="Calibri"/>
                <a:cs typeface="Calibri"/>
                <a:sym typeface="Calibri"/>
              </a:rPr>
              <a:t>01</a:t>
            </a:r>
            <a:endParaRPr b="0" i="0" sz="1800" u="none" cap="none" strike="noStrike">
              <a:solidFill>
                <a:srgbClr val="000000"/>
              </a:solidFill>
              <a:latin typeface="Arial"/>
              <a:ea typeface="Arial"/>
              <a:cs typeface="Arial"/>
              <a:sym typeface="Arial"/>
            </a:endParaRPr>
          </a:p>
        </p:txBody>
      </p:sp>
      <p:sp>
        <p:nvSpPr>
          <p:cNvPr id="113" name="Google Shape;113;p5"/>
          <p:cNvSpPr/>
          <p:nvPr/>
        </p:nvSpPr>
        <p:spPr>
          <a:xfrm>
            <a:off x="523875" y="3038475"/>
            <a:ext cx="217170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Pengumpulan Data</a:t>
            </a:r>
            <a:endParaRPr b="0" i="0" sz="1800" u="none" cap="none" strike="noStrike">
              <a:solidFill>
                <a:srgbClr val="000000"/>
              </a:solidFill>
              <a:latin typeface="Arial"/>
              <a:ea typeface="Arial"/>
              <a:cs typeface="Arial"/>
              <a:sym typeface="Arial"/>
            </a:endParaRPr>
          </a:p>
        </p:txBody>
      </p:sp>
      <p:sp>
        <p:nvSpPr>
          <p:cNvPr id="114" name="Google Shape;114;p5"/>
          <p:cNvSpPr/>
          <p:nvPr/>
        </p:nvSpPr>
        <p:spPr>
          <a:xfrm>
            <a:off x="428625" y="3381375"/>
            <a:ext cx="23622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100"/>
              <a:buFont typeface="Calibri"/>
              <a:buNone/>
            </a:pPr>
            <a:r>
              <a:rPr b="0" i="0" lang="en-US" sz="1125" u="none" cap="none" strike="noStrike">
                <a:solidFill>
                  <a:srgbClr val="2D3748"/>
                </a:solidFill>
                <a:latin typeface="Calibri"/>
                <a:ea typeface="Calibri"/>
                <a:cs typeface="Calibri"/>
                <a:sym typeface="Calibri"/>
              </a:rPr>
              <a:t>Scraping 12.105 ulasan </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en-US" sz="1125" u="none" cap="none" strike="noStrike">
                <a:solidFill>
                  <a:srgbClr val="2D3748"/>
                </a:solidFill>
                <a:latin typeface="Calibri"/>
                <a:ea typeface="Calibri"/>
                <a:cs typeface="Calibri"/>
                <a:sym typeface="Calibri"/>
              </a:rPr>
              <a:t>Google Play Store</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Juni–Agustus 2026 </a:t>
            </a:r>
            <a:endParaRPr b="0" i="0" sz="1125" u="none" cap="none" strike="noStrike">
              <a:solidFill>
                <a:srgbClr val="2D3748"/>
              </a:solidFill>
              <a:latin typeface="Calibri"/>
              <a:ea typeface="Calibri"/>
              <a:cs typeface="Calibri"/>
              <a:sym typeface="Calibri"/>
            </a:endParaRPr>
          </a:p>
        </p:txBody>
      </p:sp>
      <p:sp>
        <p:nvSpPr>
          <p:cNvPr id="115" name="Google Shape;115;p5"/>
          <p:cNvSpPr/>
          <p:nvPr/>
        </p:nvSpPr>
        <p:spPr>
          <a:xfrm>
            <a:off x="4088731" y="2314575"/>
            <a:ext cx="838200"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FA7B5"/>
              </a:buClr>
              <a:buSzPts val="1650"/>
              <a:buFont typeface="Calibri"/>
              <a:buNone/>
            </a:pPr>
            <a:r>
              <a:rPr b="1" i="0" lang="en-US" sz="1650" u="none" cap="none" strike="noStrike">
                <a:solidFill>
                  <a:srgbClr val="2FA7B5"/>
                </a:solidFill>
                <a:latin typeface="Calibri"/>
                <a:ea typeface="Calibri"/>
                <a:cs typeface="Calibri"/>
                <a:sym typeface="Calibri"/>
              </a:rPr>
              <a:t>02</a:t>
            </a:r>
            <a:endParaRPr b="0" i="0" sz="1800" u="none" cap="none" strike="noStrike">
              <a:solidFill>
                <a:srgbClr val="000000"/>
              </a:solidFill>
              <a:latin typeface="Arial"/>
              <a:ea typeface="Arial"/>
              <a:cs typeface="Arial"/>
              <a:sym typeface="Arial"/>
            </a:endParaRPr>
          </a:p>
        </p:txBody>
      </p:sp>
      <p:sp>
        <p:nvSpPr>
          <p:cNvPr id="116" name="Google Shape;116;p5"/>
          <p:cNvSpPr/>
          <p:nvPr/>
        </p:nvSpPr>
        <p:spPr>
          <a:xfrm>
            <a:off x="3421981" y="3038475"/>
            <a:ext cx="217170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Pemahaman Data</a:t>
            </a:r>
            <a:endParaRPr b="0" i="0" sz="1800" u="none" cap="none" strike="noStrike">
              <a:solidFill>
                <a:srgbClr val="000000"/>
              </a:solidFill>
              <a:latin typeface="Arial"/>
              <a:ea typeface="Arial"/>
              <a:cs typeface="Arial"/>
              <a:sym typeface="Arial"/>
            </a:endParaRPr>
          </a:p>
        </p:txBody>
      </p:sp>
      <p:sp>
        <p:nvSpPr>
          <p:cNvPr id="117" name="Google Shape;117;p5"/>
          <p:cNvSpPr/>
          <p:nvPr/>
        </p:nvSpPr>
        <p:spPr>
          <a:xfrm>
            <a:off x="3326731" y="3381375"/>
            <a:ext cx="2362200" cy="5143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Struktur data, missing value, duplikat, dan EDA</a:t>
            </a:r>
            <a:endParaRPr b="0" i="0" sz="1800" u="none" cap="none" strike="noStrike">
              <a:solidFill>
                <a:srgbClr val="000000"/>
              </a:solidFill>
              <a:latin typeface="Arial"/>
              <a:ea typeface="Arial"/>
              <a:cs typeface="Arial"/>
              <a:sym typeface="Arial"/>
            </a:endParaRPr>
          </a:p>
        </p:txBody>
      </p:sp>
      <p:sp>
        <p:nvSpPr>
          <p:cNvPr id="118" name="Google Shape;118;p5"/>
          <p:cNvSpPr/>
          <p:nvPr/>
        </p:nvSpPr>
        <p:spPr>
          <a:xfrm>
            <a:off x="6986844" y="2314575"/>
            <a:ext cx="838200"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3A9E1"/>
              </a:buClr>
              <a:buSzPts val="1650"/>
              <a:buFont typeface="Calibri"/>
              <a:buNone/>
            </a:pPr>
            <a:r>
              <a:rPr b="1" i="0" lang="en-US" sz="1650" u="none" cap="none" strike="noStrike">
                <a:solidFill>
                  <a:srgbClr val="23A9E1"/>
                </a:solidFill>
                <a:latin typeface="Calibri"/>
                <a:ea typeface="Calibri"/>
                <a:cs typeface="Calibri"/>
                <a:sym typeface="Calibri"/>
              </a:rPr>
              <a:t>03</a:t>
            </a:r>
            <a:endParaRPr b="0" i="0" sz="1800" u="none" cap="none" strike="noStrike">
              <a:solidFill>
                <a:srgbClr val="000000"/>
              </a:solidFill>
              <a:latin typeface="Arial"/>
              <a:ea typeface="Arial"/>
              <a:cs typeface="Arial"/>
              <a:sym typeface="Arial"/>
            </a:endParaRPr>
          </a:p>
        </p:txBody>
      </p:sp>
      <p:sp>
        <p:nvSpPr>
          <p:cNvPr id="119" name="Google Shape;119;p5"/>
          <p:cNvSpPr/>
          <p:nvPr/>
        </p:nvSpPr>
        <p:spPr>
          <a:xfrm>
            <a:off x="6320094" y="3038475"/>
            <a:ext cx="217170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Persiapan &amp; Labeling</a:t>
            </a:r>
            <a:endParaRPr b="0" i="0" sz="1800" u="none" cap="none" strike="noStrike">
              <a:solidFill>
                <a:srgbClr val="000000"/>
              </a:solidFill>
              <a:latin typeface="Arial"/>
              <a:ea typeface="Arial"/>
              <a:cs typeface="Arial"/>
              <a:sym typeface="Arial"/>
            </a:endParaRPr>
          </a:p>
        </p:txBody>
      </p:sp>
      <p:sp>
        <p:nvSpPr>
          <p:cNvPr id="120" name="Google Shape;120;p5"/>
          <p:cNvSpPr/>
          <p:nvPr/>
        </p:nvSpPr>
        <p:spPr>
          <a:xfrm>
            <a:off x="6224844" y="3381375"/>
            <a:ext cx="23622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rPr b="0" i="0" lang="en-US" sz="1150" u="none" cap="none" strike="noStrike">
                <a:solidFill>
                  <a:srgbClr val="2D3748"/>
                </a:solidFill>
                <a:latin typeface="Calibri"/>
                <a:ea typeface="Calibri"/>
                <a:cs typeface="Calibri"/>
                <a:sym typeface="Calibri"/>
              </a:rPr>
              <a:t>Pelabelan manual sentimen</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50"/>
              <a:buFont typeface="Arial"/>
              <a:buNone/>
            </a:pPr>
            <a:r>
              <a:rPr b="0" i="0" lang="en-US" sz="1150" u="none" cap="none" strike="noStrike">
                <a:solidFill>
                  <a:srgbClr val="2D3748"/>
                </a:solidFill>
                <a:latin typeface="Calibri"/>
                <a:ea typeface="Calibri"/>
                <a:cs typeface="Calibri"/>
                <a:sym typeface="Calibri"/>
              </a:rPr>
              <a:t>Negatif, netral, dan positif</a:t>
            </a:r>
            <a:endParaRPr b="0" i="0" sz="1400" u="none" cap="none" strike="noStrike">
              <a:solidFill>
                <a:srgbClr val="000000"/>
              </a:solidFill>
              <a:latin typeface="Arial"/>
              <a:ea typeface="Arial"/>
              <a:cs typeface="Arial"/>
              <a:sym typeface="Arial"/>
            </a:endParaRPr>
          </a:p>
        </p:txBody>
      </p:sp>
      <p:sp>
        <p:nvSpPr>
          <p:cNvPr id="121" name="Google Shape;121;p5"/>
          <p:cNvSpPr/>
          <p:nvPr/>
        </p:nvSpPr>
        <p:spPr>
          <a:xfrm>
            <a:off x="9986713" y="4314825"/>
            <a:ext cx="838200"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F8ED1"/>
              </a:buClr>
              <a:buSzPts val="1650"/>
              <a:buFont typeface="Calibri"/>
              <a:buNone/>
            </a:pPr>
            <a:r>
              <a:rPr b="1" i="0" lang="en-US" sz="1650" u="none" cap="none" strike="noStrike">
                <a:solidFill>
                  <a:srgbClr val="2F8ED1"/>
                </a:solidFill>
                <a:latin typeface="Calibri"/>
                <a:ea typeface="Calibri"/>
                <a:cs typeface="Calibri"/>
                <a:sym typeface="Calibri"/>
              </a:rPr>
              <a:t>05</a:t>
            </a:r>
            <a:endParaRPr b="0" i="0" sz="1800" u="none" cap="none" strike="noStrike">
              <a:solidFill>
                <a:srgbClr val="000000"/>
              </a:solidFill>
              <a:latin typeface="Arial"/>
              <a:ea typeface="Arial"/>
              <a:cs typeface="Arial"/>
              <a:sym typeface="Arial"/>
            </a:endParaRPr>
          </a:p>
        </p:txBody>
      </p:sp>
      <p:sp>
        <p:nvSpPr>
          <p:cNvPr id="122" name="Google Shape;122;p5"/>
          <p:cNvSpPr/>
          <p:nvPr/>
        </p:nvSpPr>
        <p:spPr>
          <a:xfrm>
            <a:off x="9271836" y="5038725"/>
            <a:ext cx="217170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Fitur &amp; Benchmark Model </a:t>
            </a:r>
            <a:endParaRPr b="1" i="0" sz="1350" u="none" cap="none" strike="noStrike">
              <a:solidFill>
                <a:srgbClr val="0B0F14"/>
              </a:solidFill>
              <a:latin typeface="Calibri"/>
              <a:ea typeface="Calibri"/>
              <a:cs typeface="Calibri"/>
              <a:sym typeface="Calibri"/>
            </a:endParaRPr>
          </a:p>
        </p:txBody>
      </p:sp>
      <p:sp>
        <p:nvSpPr>
          <p:cNvPr id="123" name="Google Shape;123;p5"/>
          <p:cNvSpPr/>
          <p:nvPr/>
        </p:nvSpPr>
        <p:spPr>
          <a:xfrm>
            <a:off x="9176586" y="5381625"/>
            <a:ext cx="2362200" cy="5143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rPr b="0" i="0" lang="en-US" sz="1150" u="none" cap="none" strike="noStrike">
                <a:solidFill>
                  <a:srgbClr val="2D3748"/>
                </a:solidFill>
                <a:latin typeface="Calibri"/>
                <a:ea typeface="Calibri"/>
                <a:cs typeface="Calibri"/>
                <a:sym typeface="Calibri"/>
              </a:rPr>
              <a:t>Split data dan TF-IDF</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50"/>
              <a:buFont typeface="Arial"/>
              <a:buNone/>
            </a:pPr>
            <a:r>
              <a:rPr b="0" i="0" lang="en-US" sz="1150" u="none" cap="none" strike="noStrike">
                <a:solidFill>
                  <a:srgbClr val="2D3748"/>
                </a:solidFill>
                <a:latin typeface="Calibri"/>
                <a:ea typeface="Calibri"/>
                <a:cs typeface="Calibri"/>
                <a:sym typeface="Calibri"/>
              </a:rPr>
              <a:t>Benchmark 3 model pada data train</a:t>
            </a:r>
            <a:endParaRPr b="0" i="0" sz="1400" u="none" cap="none" strike="noStrike">
              <a:solidFill>
                <a:srgbClr val="000000"/>
              </a:solidFill>
              <a:latin typeface="Arial"/>
              <a:ea typeface="Arial"/>
              <a:cs typeface="Arial"/>
              <a:sym typeface="Arial"/>
            </a:endParaRPr>
          </a:p>
        </p:txBody>
      </p:sp>
      <p:sp>
        <p:nvSpPr>
          <p:cNvPr id="124" name="Google Shape;124;p5"/>
          <p:cNvSpPr/>
          <p:nvPr/>
        </p:nvSpPr>
        <p:spPr>
          <a:xfrm>
            <a:off x="4232112" y="4395775"/>
            <a:ext cx="838200" cy="324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650"/>
              <a:buFont typeface="Calibri"/>
              <a:buNone/>
            </a:pPr>
            <a:r>
              <a:rPr b="1" i="0" lang="en-US" sz="1650" u="none" cap="none" strike="noStrike">
                <a:solidFill>
                  <a:srgbClr val="073B78"/>
                </a:solidFill>
                <a:latin typeface="Calibri"/>
                <a:ea typeface="Calibri"/>
                <a:cs typeface="Calibri"/>
                <a:sym typeface="Calibri"/>
              </a:rPr>
              <a:t>07</a:t>
            </a:r>
            <a:endParaRPr b="0" i="0" sz="1800" u="none" cap="none" strike="noStrike">
              <a:solidFill>
                <a:srgbClr val="000000"/>
              </a:solidFill>
              <a:latin typeface="Arial"/>
              <a:ea typeface="Arial"/>
              <a:cs typeface="Arial"/>
              <a:sym typeface="Arial"/>
            </a:endParaRPr>
          </a:p>
        </p:txBody>
      </p:sp>
      <p:sp>
        <p:nvSpPr>
          <p:cNvPr id="125" name="Google Shape;125;p5"/>
          <p:cNvSpPr/>
          <p:nvPr/>
        </p:nvSpPr>
        <p:spPr>
          <a:xfrm>
            <a:off x="3470112" y="5462575"/>
            <a:ext cx="23622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Distribusi sentimen, wordcloud,</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jam puncak, dan rating</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D3748"/>
              </a:buClr>
              <a:buSzPts val="1125"/>
              <a:buFont typeface="Calibri"/>
              <a:buNone/>
            </a:pPr>
            <a:r>
              <a:t/>
            </a:r>
            <a:endParaRPr b="0" i="0" sz="1125" u="none" cap="none" strike="noStrike">
              <a:solidFill>
                <a:srgbClr val="2D3748"/>
              </a:solidFill>
              <a:latin typeface="Calibri"/>
              <a:ea typeface="Calibri"/>
              <a:cs typeface="Calibri"/>
              <a:sym typeface="Calibri"/>
            </a:endParaRPr>
          </a:p>
        </p:txBody>
      </p:sp>
      <p:sp>
        <p:nvSpPr>
          <p:cNvPr id="126" name="Google Shape;126;p5"/>
          <p:cNvSpPr/>
          <p:nvPr/>
        </p:nvSpPr>
        <p:spPr>
          <a:xfrm>
            <a:off x="3565362" y="5119675"/>
            <a:ext cx="21717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Evaluasi &amp; Insight</a:t>
            </a:r>
            <a:endParaRPr b="0" i="0" sz="1800" u="none" cap="none" strike="noStrike">
              <a:solidFill>
                <a:srgbClr val="000000"/>
              </a:solidFill>
              <a:latin typeface="Arial"/>
              <a:ea typeface="Arial"/>
              <a:cs typeface="Arial"/>
              <a:sym typeface="Arial"/>
            </a:endParaRPr>
          </a:p>
        </p:txBody>
      </p:sp>
      <p:sp>
        <p:nvSpPr>
          <p:cNvPr id="127" name="Google Shape;127;p5"/>
          <p:cNvSpPr/>
          <p:nvPr/>
        </p:nvSpPr>
        <p:spPr>
          <a:xfrm>
            <a:off x="1285879" y="4395775"/>
            <a:ext cx="838200" cy="324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650"/>
              <a:buFont typeface="Calibri"/>
              <a:buNone/>
            </a:pPr>
            <a:r>
              <a:rPr b="1" i="0" lang="en-US" sz="1650" u="none" cap="none" strike="noStrike">
                <a:solidFill>
                  <a:srgbClr val="0B0F14"/>
                </a:solidFill>
                <a:latin typeface="Calibri"/>
                <a:ea typeface="Calibri"/>
                <a:cs typeface="Calibri"/>
                <a:sym typeface="Calibri"/>
              </a:rPr>
              <a:t>08</a:t>
            </a:r>
            <a:endParaRPr b="0" i="0" sz="1800" u="none" cap="none" strike="noStrike">
              <a:solidFill>
                <a:srgbClr val="000000"/>
              </a:solidFill>
              <a:latin typeface="Arial"/>
              <a:ea typeface="Arial"/>
              <a:cs typeface="Arial"/>
              <a:sym typeface="Arial"/>
            </a:endParaRPr>
          </a:p>
        </p:txBody>
      </p:sp>
      <p:sp>
        <p:nvSpPr>
          <p:cNvPr id="128" name="Google Shape;128;p5"/>
          <p:cNvSpPr/>
          <p:nvPr/>
        </p:nvSpPr>
        <p:spPr>
          <a:xfrm>
            <a:off x="619129" y="5119675"/>
            <a:ext cx="21717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Deployment</a:t>
            </a:r>
            <a:endParaRPr b="0" i="0" sz="1800" u="none" cap="none" strike="noStrike">
              <a:solidFill>
                <a:srgbClr val="000000"/>
              </a:solidFill>
              <a:latin typeface="Arial"/>
              <a:ea typeface="Arial"/>
              <a:cs typeface="Arial"/>
              <a:sym typeface="Arial"/>
            </a:endParaRPr>
          </a:p>
        </p:txBody>
      </p:sp>
      <p:sp>
        <p:nvSpPr>
          <p:cNvPr id="129" name="Google Shape;129;p5"/>
          <p:cNvSpPr/>
          <p:nvPr/>
        </p:nvSpPr>
        <p:spPr>
          <a:xfrm>
            <a:off x="523879" y="5462575"/>
            <a:ext cx="23622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Gradio</a:t>
            </a:r>
            <a:endParaRPr b="0" i="0" sz="1125" u="none" cap="none" strike="noStrike">
              <a:solidFill>
                <a:srgbClr val="2D3748"/>
              </a:solidFill>
              <a:latin typeface="Calibri"/>
              <a:ea typeface="Calibri"/>
              <a:cs typeface="Calibri"/>
              <a:sym typeface="Calibri"/>
            </a:endParaRPr>
          </a:p>
        </p:txBody>
      </p:sp>
      <p:sp>
        <p:nvSpPr>
          <p:cNvPr id="130" name="Google Shape;130;p5"/>
          <p:cNvSpPr/>
          <p:nvPr/>
        </p:nvSpPr>
        <p:spPr>
          <a:xfrm>
            <a:off x="0" y="6210300"/>
            <a:ext cx="12192000" cy="647700"/>
          </a:xfrm>
          <a:prstGeom prst="rect">
            <a:avLst/>
          </a:prstGeom>
          <a:solidFill>
            <a:srgbClr val="073B78"/>
          </a:solidFill>
          <a:ln cap="flat" cmpd="sng" w="9525">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1" name="Google Shape;131;p5"/>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132" name="Google Shape;132;p5"/>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sp>
        <p:nvSpPr>
          <p:cNvPr id="109" name="Google Shape;109;p5"/>
          <p:cNvSpPr/>
          <p:nvPr/>
        </p:nvSpPr>
        <p:spPr>
          <a:xfrm>
            <a:off x="9968166" y="2047875"/>
            <a:ext cx="838200" cy="838200"/>
          </a:xfrm>
          <a:prstGeom prst="ellipse">
            <a:avLst/>
          </a:prstGeom>
          <a:solidFill>
            <a:srgbClr val="FFFFFF"/>
          </a:solidFill>
          <a:ln cap="flat" cmpd="sng" w="85725">
            <a:solidFill>
              <a:srgbClr val="2F8ED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5"/>
          <p:cNvSpPr/>
          <p:nvPr/>
        </p:nvSpPr>
        <p:spPr>
          <a:xfrm>
            <a:off x="9968166" y="2314575"/>
            <a:ext cx="838200"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F8ED1"/>
              </a:buClr>
              <a:buSzPts val="1650"/>
              <a:buFont typeface="Calibri"/>
              <a:buNone/>
            </a:pPr>
            <a:r>
              <a:rPr b="1" i="0" lang="en-US" sz="1650" u="none" cap="none" strike="noStrike">
                <a:solidFill>
                  <a:srgbClr val="2F8ED1"/>
                </a:solidFill>
                <a:latin typeface="Calibri"/>
                <a:ea typeface="Calibri"/>
                <a:cs typeface="Calibri"/>
                <a:sym typeface="Calibri"/>
              </a:rPr>
              <a:t>04</a:t>
            </a:r>
            <a:endParaRPr b="0" i="0" sz="1800" u="none" cap="none" strike="noStrike">
              <a:solidFill>
                <a:srgbClr val="000000"/>
              </a:solidFill>
              <a:latin typeface="Arial"/>
              <a:ea typeface="Arial"/>
              <a:cs typeface="Arial"/>
              <a:sym typeface="Arial"/>
            </a:endParaRPr>
          </a:p>
        </p:txBody>
      </p:sp>
      <p:sp>
        <p:nvSpPr>
          <p:cNvPr id="134" name="Google Shape;134;p5"/>
          <p:cNvSpPr/>
          <p:nvPr/>
        </p:nvSpPr>
        <p:spPr>
          <a:xfrm>
            <a:off x="9301416" y="3038475"/>
            <a:ext cx="217170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Preprocessing Teks</a:t>
            </a:r>
            <a:endParaRPr b="0" i="0" sz="1800" u="none" cap="none" strike="noStrike">
              <a:solidFill>
                <a:srgbClr val="000000"/>
              </a:solidFill>
              <a:latin typeface="Arial"/>
              <a:ea typeface="Arial"/>
              <a:cs typeface="Arial"/>
              <a:sym typeface="Arial"/>
            </a:endParaRPr>
          </a:p>
        </p:txBody>
      </p:sp>
      <p:sp>
        <p:nvSpPr>
          <p:cNvPr id="135" name="Google Shape;135;p5"/>
          <p:cNvSpPr/>
          <p:nvPr/>
        </p:nvSpPr>
        <p:spPr>
          <a:xfrm>
            <a:off x="9122982" y="3295650"/>
            <a:ext cx="24453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Cleaning, normalisasi, tokenisasi, stopword removal, penanganan negasi, dan stemming </a:t>
            </a:r>
            <a:endParaRPr b="0" i="0" sz="1800" u="none" cap="none" strike="noStrike">
              <a:solidFill>
                <a:srgbClr val="000000"/>
              </a:solidFill>
              <a:latin typeface="Arial"/>
              <a:ea typeface="Arial"/>
              <a:cs typeface="Arial"/>
              <a:sym typeface="Arial"/>
            </a:endParaRPr>
          </a:p>
        </p:txBody>
      </p:sp>
      <p:cxnSp>
        <p:nvCxnSpPr>
          <p:cNvPr id="136" name="Google Shape;136;p5"/>
          <p:cNvCxnSpPr>
            <a:stCxn id="102" idx="6"/>
          </p:cNvCxnSpPr>
          <p:nvPr/>
        </p:nvCxnSpPr>
        <p:spPr>
          <a:xfrm>
            <a:off x="7825044" y="2466975"/>
            <a:ext cx="2115900" cy="4500"/>
          </a:xfrm>
          <a:prstGeom prst="straightConnector1">
            <a:avLst/>
          </a:prstGeom>
          <a:noFill/>
          <a:ln cap="flat" cmpd="sng" w="38100">
            <a:solidFill>
              <a:srgbClr val="D9E2EC"/>
            </a:solidFill>
            <a:prstDash val="solid"/>
            <a:round/>
            <a:headEnd len="sm" w="sm" type="none"/>
            <a:tailEnd len="med" w="med" type="stealth"/>
          </a:ln>
        </p:spPr>
      </p:cxnSp>
      <p:sp>
        <p:nvSpPr>
          <p:cNvPr id="137" name="Google Shape;137;p5"/>
          <p:cNvSpPr/>
          <p:nvPr/>
        </p:nvSpPr>
        <p:spPr>
          <a:xfrm>
            <a:off x="6986862" y="4129075"/>
            <a:ext cx="838200" cy="838200"/>
          </a:xfrm>
          <a:prstGeom prst="ellipse">
            <a:avLst/>
          </a:prstGeom>
          <a:solidFill>
            <a:srgbClr val="FFFFFF"/>
          </a:solidFill>
          <a:ln cap="flat" cmpd="sng" w="85725">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5"/>
          <p:cNvSpPr/>
          <p:nvPr/>
        </p:nvSpPr>
        <p:spPr>
          <a:xfrm>
            <a:off x="6986862" y="4343313"/>
            <a:ext cx="838200" cy="324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650"/>
              <a:buFont typeface="Calibri"/>
              <a:buNone/>
            </a:pPr>
            <a:r>
              <a:rPr b="1" i="0" lang="en-US" sz="1650" u="none" cap="none" strike="noStrike">
                <a:solidFill>
                  <a:srgbClr val="073B78"/>
                </a:solidFill>
                <a:latin typeface="Calibri"/>
                <a:ea typeface="Calibri"/>
                <a:cs typeface="Calibri"/>
                <a:sym typeface="Calibri"/>
              </a:rPr>
              <a:t>06</a:t>
            </a:r>
            <a:endParaRPr b="0" i="0" sz="1800" u="none" cap="none" strike="noStrike">
              <a:solidFill>
                <a:srgbClr val="000000"/>
              </a:solidFill>
              <a:latin typeface="Arial"/>
              <a:ea typeface="Arial"/>
              <a:cs typeface="Arial"/>
              <a:sym typeface="Arial"/>
            </a:endParaRPr>
          </a:p>
        </p:txBody>
      </p:sp>
      <p:cxnSp>
        <p:nvCxnSpPr>
          <p:cNvPr id="139" name="Google Shape;139;p5"/>
          <p:cNvCxnSpPr/>
          <p:nvPr/>
        </p:nvCxnSpPr>
        <p:spPr>
          <a:xfrm rot="10800000">
            <a:off x="7820988" y="4505325"/>
            <a:ext cx="2124000" cy="0"/>
          </a:xfrm>
          <a:prstGeom prst="straightConnector1">
            <a:avLst/>
          </a:prstGeom>
          <a:noFill/>
          <a:ln cap="flat" cmpd="sng" w="38100">
            <a:solidFill>
              <a:srgbClr val="D9E2EC"/>
            </a:solidFill>
            <a:prstDash val="solid"/>
            <a:round/>
            <a:headEnd len="sm" w="sm" type="none"/>
            <a:tailEnd len="med" w="med" type="stealth"/>
          </a:ln>
        </p:spPr>
      </p:cxnSp>
      <p:sp>
        <p:nvSpPr>
          <p:cNvPr id="140" name="Google Shape;140;p5"/>
          <p:cNvSpPr/>
          <p:nvPr/>
        </p:nvSpPr>
        <p:spPr>
          <a:xfrm>
            <a:off x="6418600" y="5114775"/>
            <a:ext cx="1953000" cy="28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350"/>
              <a:buFont typeface="Calibri"/>
              <a:buNone/>
            </a:pPr>
            <a:r>
              <a:rPr b="1" i="0" lang="en-US" sz="1350" u="none" cap="none" strike="noStrike">
                <a:solidFill>
                  <a:srgbClr val="0B0F14"/>
                </a:solidFill>
                <a:latin typeface="Calibri"/>
                <a:ea typeface="Calibri"/>
                <a:cs typeface="Calibri"/>
                <a:sym typeface="Calibri"/>
              </a:rPr>
              <a:t>Final Model</a:t>
            </a:r>
            <a:endParaRPr b="0" i="0" sz="1800" u="none" cap="none" strike="noStrike">
              <a:solidFill>
                <a:srgbClr val="000000"/>
              </a:solidFill>
              <a:latin typeface="Arial"/>
              <a:ea typeface="Arial"/>
              <a:cs typeface="Arial"/>
              <a:sym typeface="Arial"/>
            </a:endParaRPr>
          </a:p>
        </p:txBody>
      </p:sp>
      <p:sp>
        <p:nvSpPr>
          <p:cNvPr id="141" name="Google Shape;141;p5"/>
          <p:cNvSpPr/>
          <p:nvPr/>
        </p:nvSpPr>
        <p:spPr>
          <a:xfrm>
            <a:off x="6182337" y="5412500"/>
            <a:ext cx="23622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classification report,</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confusion matrix, dan prediksi</a:t>
            </a:r>
            <a:endParaRPr b="0" i="0" sz="1125" u="none" cap="none" strike="noStrike">
              <a:solidFill>
                <a:srgbClr val="2D3748"/>
              </a:solidFill>
              <a:latin typeface="Calibri"/>
              <a:ea typeface="Calibri"/>
              <a:cs typeface="Calibri"/>
              <a:sym typeface="Calibri"/>
            </a:endParaRPr>
          </a:p>
          <a:p>
            <a:pPr indent="0" lvl="0" marL="0" marR="0" rtl="0" algn="ctr">
              <a:lnSpc>
                <a:spcPct val="100000"/>
              </a:lnSpc>
              <a:spcBef>
                <a:spcPts val="0"/>
              </a:spcBef>
              <a:spcAft>
                <a:spcPts val="0"/>
              </a:spcAft>
              <a:buClr>
                <a:srgbClr val="2D3748"/>
              </a:buClr>
              <a:buSzPts val="1125"/>
              <a:buFont typeface="Calibri"/>
              <a:buNone/>
            </a:pPr>
            <a:r>
              <a:rPr b="0" i="0" lang="en-US" sz="1125" u="none" cap="none" strike="noStrike">
                <a:solidFill>
                  <a:srgbClr val="2D3748"/>
                </a:solidFill>
                <a:latin typeface="Calibri"/>
                <a:ea typeface="Calibri"/>
                <a:cs typeface="Calibri"/>
                <a:sym typeface="Calibri"/>
              </a:rPr>
              <a:t>seluruh ulasan</a:t>
            </a:r>
            <a:endParaRPr b="0" i="0" sz="1125" u="none" cap="none" strike="noStrike">
              <a:solidFill>
                <a:srgbClr val="2D374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6"/>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META DATASET</a:t>
            </a:r>
            <a:endParaRPr b="0" i="0" sz="1800" u="none" cap="none" strike="noStrike">
              <a:solidFill>
                <a:srgbClr val="000000"/>
              </a:solidFill>
              <a:latin typeface="Arial"/>
              <a:ea typeface="Arial"/>
              <a:cs typeface="Arial"/>
              <a:sym typeface="Arial"/>
            </a:endParaRPr>
          </a:p>
        </p:txBody>
      </p:sp>
      <p:sp>
        <p:nvSpPr>
          <p:cNvPr id="148" name="Google Shape;148;p6"/>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6"/>
          <p:cNvSpPr/>
          <p:nvPr/>
        </p:nvSpPr>
        <p:spPr>
          <a:xfrm>
            <a:off x="742950" y="1752600"/>
            <a:ext cx="2000250" cy="4000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2175"/>
              <a:buFont typeface="Calibri"/>
              <a:buNone/>
            </a:pPr>
            <a:r>
              <a:rPr b="1" i="0" lang="en-US" sz="2175" u="none" cap="none" strike="noStrike">
                <a:solidFill>
                  <a:srgbClr val="073B78"/>
                </a:solidFill>
                <a:latin typeface="Calibri"/>
                <a:ea typeface="Calibri"/>
                <a:cs typeface="Calibri"/>
                <a:sym typeface="Calibri"/>
              </a:rPr>
              <a:t>12.105</a:t>
            </a:r>
            <a:endParaRPr b="0" i="0" sz="1800" u="none" cap="none" strike="noStrike">
              <a:solidFill>
                <a:srgbClr val="000000"/>
              </a:solidFill>
              <a:latin typeface="Arial"/>
              <a:ea typeface="Arial"/>
              <a:cs typeface="Arial"/>
              <a:sym typeface="Arial"/>
            </a:endParaRPr>
          </a:p>
        </p:txBody>
      </p:sp>
      <p:sp>
        <p:nvSpPr>
          <p:cNvPr id="150" name="Google Shape;150;p6"/>
          <p:cNvSpPr/>
          <p:nvPr/>
        </p:nvSpPr>
        <p:spPr>
          <a:xfrm>
            <a:off x="742950" y="2143125"/>
            <a:ext cx="200025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baris data</a:t>
            </a:r>
            <a:endParaRPr b="0" i="0" sz="1800" u="none" cap="none" strike="noStrike">
              <a:solidFill>
                <a:srgbClr val="000000"/>
              </a:solidFill>
              <a:latin typeface="Arial"/>
              <a:ea typeface="Arial"/>
              <a:cs typeface="Arial"/>
              <a:sym typeface="Arial"/>
            </a:endParaRPr>
          </a:p>
        </p:txBody>
      </p:sp>
      <p:sp>
        <p:nvSpPr>
          <p:cNvPr id="151" name="Google Shape;151;p6"/>
          <p:cNvSpPr/>
          <p:nvPr/>
        </p:nvSpPr>
        <p:spPr>
          <a:xfrm>
            <a:off x="1076325" y="2428875"/>
            <a:ext cx="1333500" cy="2857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6"/>
          <p:cNvSpPr/>
          <p:nvPr/>
        </p:nvSpPr>
        <p:spPr>
          <a:xfrm>
            <a:off x="3162300" y="1752600"/>
            <a:ext cx="2000250" cy="4000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2175"/>
              <a:buFont typeface="Calibri"/>
              <a:buNone/>
            </a:pPr>
            <a:r>
              <a:rPr b="1" i="0" lang="en-US" sz="2175" u="none" cap="none" strike="noStrike">
                <a:solidFill>
                  <a:srgbClr val="073B78"/>
                </a:solidFill>
                <a:latin typeface="Calibri"/>
                <a:ea typeface="Calibri"/>
                <a:cs typeface="Calibri"/>
                <a:sym typeface="Calibri"/>
              </a:rPr>
              <a:t>5</a:t>
            </a:r>
            <a:endParaRPr b="0" i="0" sz="1800" u="none" cap="none" strike="noStrike">
              <a:solidFill>
                <a:srgbClr val="000000"/>
              </a:solidFill>
              <a:latin typeface="Arial"/>
              <a:ea typeface="Arial"/>
              <a:cs typeface="Arial"/>
              <a:sym typeface="Arial"/>
            </a:endParaRPr>
          </a:p>
        </p:txBody>
      </p:sp>
      <p:sp>
        <p:nvSpPr>
          <p:cNvPr id="153" name="Google Shape;153;p6"/>
          <p:cNvSpPr/>
          <p:nvPr/>
        </p:nvSpPr>
        <p:spPr>
          <a:xfrm>
            <a:off x="3162300" y="2143125"/>
            <a:ext cx="200025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kolom</a:t>
            </a:r>
            <a:endParaRPr b="0" i="0" sz="1800" u="none" cap="none" strike="noStrike">
              <a:solidFill>
                <a:srgbClr val="000000"/>
              </a:solidFill>
              <a:latin typeface="Arial"/>
              <a:ea typeface="Arial"/>
              <a:cs typeface="Arial"/>
              <a:sym typeface="Arial"/>
            </a:endParaRPr>
          </a:p>
        </p:txBody>
      </p:sp>
      <p:sp>
        <p:nvSpPr>
          <p:cNvPr id="154" name="Google Shape;154;p6"/>
          <p:cNvSpPr/>
          <p:nvPr/>
        </p:nvSpPr>
        <p:spPr>
          <a:xfrm>
            <a:off x="3495675" y="2428875"/>
            <a:ext cx="1333500" cy="2857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6"/>
          <p:cNvSpPr/>
          <p:nvPr/>
        </p:nvSpPr>
        <p:spPr>
          <a:xfrm>
            <a:off x="5572125" y="1752600"/>
            <a:ext cx="2000250" cy="4000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2175"/>
              <a:buFont typeface="Calibri"/>
              <a:buNone/>
            </a:pPr>
            <a:r>
              <a:rPr b="1" i="0" lang="en-US" sz="2175" u="none" cap="none" strike="noStrike">
                <a:solidFill>
                  <a:srgbClr val="37B8B3"/>
                </a:solidFill>
                <a:latin typeface="Calibri"/>
                <a:ea typeface="Calibri"/>
                <a:cs typeface="Calibri"/>
                <a:sym typeface="Calibri"/>
              </a:rPr>
              <a:t>0</a:t>
            </a:r>
            <a:endParaRPr b="0" i="0" sz="1800" u="none" cap="none" strike="noStrike">
              <a:solidFill>
                <a:srgbClr val="000000"/>
              </a:solidFill>
              <a:latin typeface="Arial"/>
              <a:ea typeface="Arial"/>
              <a:cs typeface="Arial"/>
              <a:sym typeface="Arial"/>
            </a:endParaRPr>
          </a:p>
        </p:txBody>
      </p:sp>
      <p:sp>
        <p:nvSpPr>
          <p:cNvPr id="156" name="Google Shape;156;p6"/>
          <p:cNvSpPr/>
          <p:nvPr/>
        </p:nvSpPr>
        <p:spPr>
          <a:xfrm>
            <a:off x="5572125" y="2143125"/>
            <a:ext cx="200025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missing value</a:t>
            </a:r>
            <a:endParaRPr b="0" i="0" sz="1800" u="none" cap="none" strike="noStrike">
              <a:solidFill>
                <a:srgbClr val="000000"/>
              </a:solidFill>
              <a:latin typeface="Arial"/>
              <a:ea typeface="Arial"/>
              <a:cs typeface="Arial"/>
              <a:sym typeface="Arial"/>
            </a:endParaRPr>
          </a:p>
        </p:txBody>
      </p:sp>
      <p:sp>
        <p:nvSpPr>
          <p:cNvPr id="157" name="Google Shape;157;p6"/>
          <p:cNvSpPr/>
          <p:nvPr/>
        </p:nvSpPr>
        <p:spPr>
          <a:xfrm>
            <a:off x="5905500" y="2428875"/>
            <a:ext cx="1333500" cy="28575"/>
          </a:xfrm>
          <a:prstGeom prst="rect">
            <a:avLst/>
          </a:prstGeom>
          <a:solidFill>
            <a:srgbClr val="37B8B3"/>
          </a:solidFill>
          <a:ln cap="flat" cmpd="sng" w="9525">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6"/>
          <p:cNvSpPr/>
          <p:nvPr/>
        </p:nvSpPr>
        <p:spPr>
          <a:xfrm>
            <a:off x="7981950" y="1752600"/>
            <a:ext cx="2000250" cy="4000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2175"/>
              <a:buFont typeface="Calibri"/>
              <a:buNone/>
            </a:pPr>
            <a:r>
              <a:rPr b="1" i="0" lang="en-US" sz="2175" u="none" cap="none" strike="noStrike">
                <a:solidFill>
                  <a:srgbClr val="37B8B3"/>
                </a:solidFill>
                <a:latin typeface="Calibri"/>
                <a:ea typeface="Calibri"/>
                <a:cs typeface="Calibri"/>
                <a:sym typeface="Calibri"/>
              </a:rPr>
              <a:t>0</a:t>
            </a:r>
            <a:endParaRPr b="0" i="0" sz="1800" u="none" cap="none" strike="noStrike">
              <a:solidFill>
                <a:srgbClr val="000000"/>
              </a:solidFill>
              <a:latin typeface="Arial"/>
              <a:ea typeface="Arial"/>
              <a:cs typeface="Arial"/>
              <a:sym typeface="Arial"/>
            </a:endParaRPr>
          </a:p>
        </p:txBody>
      </p:sp>
      <p:sp>
        <p:nvSpPr>
          <p:cNvPr id="159" name="Google Shape;159;p6"/>
          <p:cNvSpPr/>
          <p:nvPr/>
        </p:nvSpPr>
        <p:spPr>
          <a:xfrm>
            <a:off x="7981950" y="2143125"/>
            <a:ext cx="200025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ID duplikat</a:t>
            </a:r>
            <a:endParaRPr b="0" i="0" sz="1800" u="none" cap="none" strike="noStrike">
              <a:solidFill>
                <a:srgbClr val="000000"/>
              </a:solidFill>
              <a:latin typeface="Arial"/>
              <a:ea typeface="Arial"/>
              <a:cs typeface="Arial"/>
              <a:sym typeface="Arial"/>
            </a:endParaRPr>
          </a:p>
        </p:txBody>
      </p:sp>
      <p:sp>
        <p:nvSpPr>
          <p:cNvPr id="160" name="Google Shape;160;p6"/>
          <p:cNvSpPr/>
          <p:nvPr/>
        </p:nvSpPr>
        <p:spPr>
          <a:xfrm>
            <a:off x="8315325" y="2428875"/>
            <a:ext cx="1333500" cy="28575"/>
          </a:xfrm>
          <a:prstGeom prst="rect">
            <a:avLst/>
          </a:prstGeom>
          <a:solidFill>
            <a:srgbClr val="37B8B3"/>
          </a:solidFill>
          <a:ln cap="flat" cmpd="sng" w="9525">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161" name="Google Shape;161;p6"/>
          <p:cNvGraphicFramePr/>
          <p:nvPr/>
        </p:nvGraphicFramePr>
        <p:xfrm>
          <a:off x="571500" y="2762250"/>
          <a:ext cx="3000000" cy="3000000"/>
        </p:xfrm>
        <a:graphic>
          <a:graphicData uri="http://schemas.openxmlformats.org/drawingml/2006/table">
            <a:tbl>
              <a:tblPr>
                <a:noFill/>
                <a:tableStyleId>{D7B40C3D-3904-476C-BF44-2A538A035B22}</a:tableStyleId>
              </a:tblPr>
              <a:tblGrid>
                <a:gridCol w="1285875"/>
                <a:gridCol w="1095375"/>
                <a:gridCol w="1143000"/>
                <a:gridCol w="4095750"/>
              </a:tblGrid>
              <a:tr h="463550">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Kolom</a:t>
                      </a:r>
                      <a:endParaRPr sz="1400" u="none" cap="none" strike="noStrike"/>
                    </a:p>
                  </a:txBody>
                  <a:tcPr marT="45725" marB="45725" marR="91450" marL="91450">
                    <a:solidFill>
                      <a:srgbClr val="073B78"/>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Tipe awal</a:t>
                      </a:r>
                      <a:endParaRPr sz="1400" u="none" cap="none" strike="noStrike"/>
                    </a:p>
                  </a:txBody>
                  <a:tcPr marT="45725" marB="45725" marR="91450" marL="91450">
                    <a:solidFill>
                      <a:srgbClr val="073B78"/>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Non-null</a:t>
                      </a:r>
                      <a:endParaRPr sz="1400" u="none" cap="none" strike="noStrike"/>
                    </a:p>
                  </a:txBody>
                  <a:tcPr marT="45725" marB="45725" marR="91450" marL="91450">
                    <a:solidFill>
                      <a:srgbClr val="073B78"/>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Keterangan</a:t>
                      </a:r>
                      <a:endParaRPr sz="1400" u="none" cap="none" strike="noStrike"/>
                    </a:p>
                  </a:txBody>
                  <a:tcPr marT="45725" marB="45725" marR="91450" marL="91450">
                    <a:solidFill>
                      <a:srgbClr val="073B78"/>
                    </a:solidFill>
                  </a:tcPr>
                </a:tc>
              </a:tr>
              <a:tr h="463550">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id</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object</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12.105</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Identitas unik ulasan</a:t>
                      </a:r>
                      <a:endParaRPr sz="1400" u="none" cap="none" strike="noStrike"/>
                    </a:p>
                  </a:txBody>
                  <a:tcPr marT="45725" marB="45725" marR="91450" marL="91450">
                    <a:solidFill>
                      <a:srgbClr val="FFFFFF"/>
                    </a:solidFill>
                  </a:tcPr>
                </a:tc>
              </a:tr>
              <a:tr h="463550">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teks</a:t>
                      </a:r>
                      <a:endParaRPr sz="1400" u="none" cap="none" strike="noStrike"/>
                    </a:p>
                  </a:txBody>
                  <a:tcPr marT="45725" marB="45725" marR="91450" marL="91450">
                    <a:solidFill>
                      <a:srgbClr val="EEF6FC"/>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object</a:t>
                      </a:r>
                      <a:endParaRPr sz="1400" u="none" cap="none" strike="noStrike"/>
                    </a:p>
                  </a:txBody>
                  <a:tcPr marT="45725" marB="45725" marR="91450" marL="91450">
                    <a:solidFill>
                      <a:srgbClr val="EEF6FC"/>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12.105</a:t>
                      </a:r>
                      <a:endParaRPr sz="1400" u="none" cap="none" strike="noStrike"/>
                    </a:p>
                  </a:txBody>
                  <a:tcPr marT="45725" marB="45725" marR="91450" marL="91450">
                    <a:solidFill>
                      <a:srgbClr val="EEF6FC"/>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Isi ulasan pengguna</a:t>
                      </a:r>
                      <a:endParaRPr sz="1400" u="none" cap="none" strike="noStrike"/>
                    </a:p>
                  </a:txBody>
                  <a:tcPr marT="45725" marB="45725" marR="91450" marL="91450">
                    <a:solidFill>
                      <a:srgbClr val="EEF6FC"/>
                    </a:solidFill>
                  </a:tcPr>
                </a:tc>
              </a:tr>
              <a:tr h="463550">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rating</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int64</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12.105</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Rating 1–5 bintang</a:t>
                      </a:r>
                      <a:endParaRPr sz="1400" u="none" cap="none" strike="noStrike"/>
                    </a:p>
                  </a:txBody>
                  <a:tcPr marT="45725" marB="45725" marR="91450" marL="91450">
                    <a:solidFill>
                      <a:srgbClr val="FFFFFF"/>
                    </a:solidFill>
                  </a:tcPr>
                </a:tc>
              </a:tr>
              <a:tr h="463550">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tanggal</a:t>
                      </a:r>
                      <a:endParaRPr sz="1400" u="none" cap="none" strike="noStrike"/>
                    </a:p>
                  </a:txBody>
                  <a:tcPr marT="45725" marB="45725" marR="91450" marL="91450">
                    <a:solidFill>
                      <a:srgbClr val="EEF6FC"/>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object</a:t>
                      </a:r>
                      <a:endParaRPr sz="1400" u="none" cap="none" strike="noStrike"/>
                    </a:p>
                  </a:txBody>
                  <a:tcPr marT="45725" marB="45725" marR="91450" marL="91450">
                    <a:solidFill>
                      <a:srgbClr val="EEF6FC"/>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12.105</a:t>
                      </a:r>
                      <a:endParaRPr sz="1400" u="none" cap="none" strike="noStrike"/>
                    </a:p>
                  </a:txBody>
                  <a:tcPr marT="45725" marB="45725" marR="91450" marL="91450">
                    <a:solidFill>
                      <a:srgbClr val="EEF6FC"/>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Tanggal ulasan; dikonversi ke datetime</a:t>
                      </a:r>
                      <a:endParaRPr sz="1400" u="none" cap="none" strike="noStrike"/>
                    </a:p>
                  </a:txBody>
                  <a:tcPr marT="45725" marB="45725" marR="91450" marL="91450">
                    <a:solidFill>
                      <a:srgbClr val="EEF6FC"/>
                    </a:solidFill>
                  </a:tcPr>
                </a:tc>
              </a:tr>
              <a:tr h="463550">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jam</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int64</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12.105</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2D3748"/>
                        </a:buClr>
                        <a:buSzPts val="1125"/>
                        <a:buFont typeface="Calibri"/>
                        <a:buNone/>
                      </a:pPr>
                      <a:r>
                        <a:rPr lang="en-US" sz="1125" u="none" cap="none" strike="noStrike">
                          <a:solidFill>
                            <a:srgbClr val="2D3748"/>
                          </a:solidFill>
                        </a:rPr>
                        <a:t>Jam ulasan dalam format 00–23</a:t>
                      </a:r>
                      <a:endParaRPr sz="1400" u="none" cap="none" strike="noStrike"/>
                    </a:p>
                  </a:txBody>
                  <a:tcPr marT="45725" marB="45725" marR="91450" marL="91450">
                    <a:solidFill>
                      <a:srgbClr val="FFFFFF"/>
                    </a:solidFill>
                  </a:tcPr>
                </a:tc>
              </a:tr>
            </a:tbl>
          </a:graphicData>
        </a:graphic>
      </p:graphicFrame>
      <p:sp>
        <p:nvSpPr>
          <p:cNvPr id="162" name="Google Shape;162;p6"/>
          <p:cNvSpPr/>
          <p:nvPr/>
        </p:nvSpPr>
        <p:spPr>
          <a:xfrm>
            <a:off x="8572500" y="2762250"/>
            <a:ext cx="2762250"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350"/>
              <a:buFont typeface="Calibri"/>
              <a:buNone/>
            </a:pPr>
            <a:r>
              <a:rPr b="1" i="0" lang="en-US" sz="1350" u="none" cap="none" strike="noStrike">
                <a:solidFill>
                  <a:srgbClr val="073B78"/>
                </a:solidFill>
                <a:latin typeface="Calibri"/>
                <a:ea typeface="Calibri"/>
                <a:cs typeface="Calibri"/>
                <a:sym typeface="Calibri"/>
              </a:rPr>
              <a:t>JUMLAH ULASAN PER BULAN</a:t>
            </a:r>
            <a:endParaRPr b="0" i="0" sz="1800" u="none" cap="none" strike="noStrike">
              <a:solidFill>
                <a:srgbClr val="000000"/>
              </a:solidFill>
              <a:latin typeface="Arial"/>
              <a:ea typeface="Arial"/>
              <a:cs typeface="Arial"/>
              <a:sym typeface="Arial"/>
            </a:endParaRPr>
          </a:p>
        </p:txBody>
      </p:sp>
      <p:sp>
        <p:nvSpPr>
          <p:cNvPr id="163" name="Google Shape;163;p6"/>
          <p:cNvSpPr/>
          <p:nvPr/>
        </p:nvSpPr>
        <p:spPr>
          <a:xfrm>
            <a:off x="8572500" y="3362325"/>
            <a:ext cx="9144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D3748"/>
              </a:buClr>
              <a:buSzPts val="1200"/>
              <a:buFont typeface="Calibri"/>
              <a:buNone/>
            </a:pPr>
            <a:r>
              <a:rPr b="1" i="0" lang="en-US" sz="1200" u="none" cap="none" strike="noStrike">
                <a:solidFill>
                  <a:srgbClr val="2D3748"/>
                </a:solidFill>
                <a:latin typeface="Calibri"/>
                <a:ea typeface="Calibri"/>
                <a:cs typeface="Calibri"/>
                <a:sym typeface="Calibri"/>
              </a:rPr>
              <a:t>Juni</a:t>
            </a:r>
            <a:endParaRPr b="0" i="0" sz="1800" u="none" cap="none" strike="noStrike">
              <a:solidFill>
                <a:srgbClr val="000000"/>
              </a:solidFill>
              <a:latin typeface="Arial"/>
              <a:ea typeface="Arial"/>
              <a:cs typeface="Arial"/>
              <a:sym typeface="Arial"/>
            </a:endParaRPr>
          </a:p>
        </p:txBody>
      </p:sp>
      <p:sp>
        <p:nvSpPr>
          <p:cNvPr id="164" name="Google Shape;164;p6"/>
          <p:cNvSpPr/>
          <p:nvPr/>
        </p:nvSpPr>
        <p:spPr>
          <a:xfrm>
            <a:off x="9505950" y="3390900"/>
            <a:ext cx="1838325" cy="190500"/>
          </a:xfrm>
          <a:prstGeom prst="rect">
            <a:avLst/>
          </a:prstGeom>
          <a:solidFill>
            <a:srgbClr val="EEF6FC"/>
          </a:solidFill>
          <a:ln cap="flat" cmpd="sng" w="9525">
            <a:solidFill>
              <a:srgbClr val="EEF6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6"/>
          <p:cNvSpPr/>
          <p:nvPr/>
        </p:nvSpPr>
        <p:spPr>
          <a:xfrm>
            <a:off x="9505950" y="3390900"/>
            <a:ext cx="1781175" cy="190500"/>
          </a:xfrm>
          <a:prstGeom prst="rect">
            <a:avLst/>
          </a:prstGeom>
          <a:solidFill>
            <a:srgbClr val="37B8B3"/>
          </a:solidFill>
          <a:ln cap="flat" cmpd="sng" w="9525">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6"/>
          <p:cNvSpPr/>
          <p:nvPr/>
        </p:nvSpPr>
        <p:spPr>
          <a:xfrm>
            <a:off x="9620250" y="3381375"/>
            <a:ext cx="1571625" cy="209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25"/>
              <a:buFont typeface="Calibri"/>
              <a:buNone/>
            </a:pPr>
            <a:r>
              <a:rPr b="1" i="0" lang="en-US" sz="1125" u="none" cap="none" strike="noStrike">
                <a:solidFill>
                  <a:srgbClr val="FFFFFF"/>
                </a:solidFill>
                <a:latin typeface="Calibri"/>
                <a:ea typeface="Calibri"/>
                <a:cs typeface="Calibri"/>
                <a:sym typeface="Calibri"/>
              </a:rPr>
              <a:t>3.958</a:t>
            </a:r>
            <a:endParaRPr b="0" i="0" sz="1800" u="none" cap="none" strike="noStrike">
              <a:solidFill>
                <a:srgbClr val="000000"/>
              </a:solidFill>
              <a:latin typeface="Arial"/>
              <a:ea typeface="Arial"/>
              <a:cs typeface="Arial"/>
              <a:sym typeface="Arial"/>
            </a:endParaRPr>
          </a:p>
        </p:txBody>
      </p:sp>
      <p:sp>
        <p:nvSpPr>
          <p:cNvPr id="167" name="Google Shape;167;p6"/>
          <p:cNvSpPr/>
          <p:nvPr/>
        </p:nvSpPr>
        <p:spPr>
          <a:xfrm>
            <a:off x="8572500" y="4086225"/>
            <a:ext cx="9144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D3748"/>
              </a:buClr>
              <a:buSzPts val="1200"/>
              <a:buFont typeface="Calibri"/>
              <a:buNone/>
            </a:pPr>
            <a:r>
              <a:rPr b="1" i="0" lang="en-US" sz="1200" u="none" cap="none" strike="noStrike">
                <a:solidFill>
                  <a:srgbClr val="2D3748"/>
                </a:solidFill>
                <a:latin typeface="Calibri"/>
                <a:ea typeface="Calibri"/>
                <a:cs typeface="Calibri"/>
                <a:sym typeface="Calibri"/>
              </a:rPr>
              <a:t>Juli</a:t>
            </a:r>
            <a:endParaRPr b="0" i="0" sz="1800" u="none" cap="none" strike="noStrike">
              <a:solidFill>
                <a:srgbClr val="000000"/>
              </a:solidFill>
              <a:latin typeface="Arial"/>
              <a:ea typeface="Arial"/>
              <a:cs typeface="Arial"/>
              <a:sym typeface="Arial"/>
            </a:endParaRPr>
          </a:p>
        </p:txBody>
      </p:sp>
      <p:sp>
        <p:nvSpPr>
          <p:cNvPr id="168" name="Google Shape;168;p6"/>
          <p:cNvSpPr/>
          <p:nvPr/>
        </p:nvSpPr>
        <p:spPr>
          <a:xfrm>
            <a:off x="9505950" y="4114800"/>
            <a:ext cx="1838325" cy="190500"/>
          </a:xfrm>
          <a:prstGeom prst="rect">
            <a:avLst/>
          </a:prstGeom>
          <a:solidFill>
            <a:srgbClr val="EEF6FC"/>
          </a:solidFill>
          <a:ln cap="flat" cmpd="sng" w="9525">
            <a:solidFill>
              <a:srgbClr val="EEF6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6"/>
          <p:cNvSpPr/>
          <p:nvPr/>
        </p:nvSpPr>
        <p:spPr>
          <a:xfrm>
            <a:off x="9505950" y="4114800"/>
            <a:ext cx="1838325" cy="190500"/>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6"/>
          <p:cNvSpPr/>
          <p:nvPr/>
        </p:nvSpPr>
        <p:spPr>
          <a:xfrm>
            <a:off x="9620250" y="4105275"/>
            <a:ext cx="1571625" cy="209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25"/>
              <a:buFont typeface="Calibri"/>
              <a:buNone/>
            </a:pPr>
            <a:r>
              <a:rPr b="1" i="0" lang="en-US" sz="1125" u="none" cap="none" strike="noStrike">
                <a:solidFill>
                  <a:srgbClr val="FFFFFF"/>
                </a:solidFill>
                <a:latin typeface="Calibri"/>
                <a:ea typeface="Calibri"/>
                <a:cs typeface="Calibri"/>
                <a:sym typeface="Calibri"/>
              </a:rPr>
              <a:t>4.072</a:t>
            </a:r>
            <a:endParaRPr b="0" i="0" sz="1800" u="none" cap="none" strike="noStrike">
              <a:solidFill>
                <a:srgbClr val="000000"/>
              </a:solidFill>
              <a:latin typeface="Arial"/>
              <a:ea typeface="Arial"/>
              <a:cs typeface="Arial"/>
              <a:sym typeface="Arial"/>
            </a:endParaRPr>
          </a:p>
        </p:txBody>
      </p:sp>
      <p:sp>
        <p:nvSpPr>
          <p:cNvPr id="171" name="Google Shape;171;p6"/>
          <p:cNvSpPr/>
          <p:nvPr/>
        </p:nvSpPr>
        <p:spPr>
          <a:xfrm>
            <a:off x="8572500" y="4810125"/>
            <a:ext cx="9144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D3748"/>
              </a:buClr>
              <a:buSzPts val="1200"/>
              <a:buFont typeface="Calibri"/>
              <a:buNone/>
            </a:pPr>
            <a:r>
              <a:rPr b="1" i="0" lang="en-US" sz="1200" u="none" cap="none" strike="noStrike">
                <a:solidFill>
                  <a:srgbClr val="2D3748"/>
                </a:solidFill>
                <a:latin typeface="Calibri"/>
                <a:ea typeface="Calibri"/>
                <a:cs typeface="Calibri"/>
                <a:sym typeface="Calibri"/>
              </a:rPr>
              <a:t>Agustus</a:t>
            </a:r>
            <a:endParaRPr b="0" i="0" sz="1800" u="none" cap="none" strike="noStrike">
              <a:solidFill>
                <a:srgbClr val="000000"/>
              </a:solidFill>
              <a:latin typeface="Arial"/>
              <a:ea typeface="Arial"/>
              <a:cs typeface="Arial"/>
              <a:sym typeface="Arial"/>
            </a:endParaRPr>
          </a:p>
        </p:txBody>
      </p:sp>
      <p:sp>
        <p:nvSpPr>
          <p:cNvPr id="172" name="Google Shape;172;p6"/>
          <p:cNvSpPr/>
          <p:nvPr/>
        </p:nvSpPr>
        <p:spPr>
          <a:xfrm>
            <a:off x="9505950" y="4838700"/>
            <a:ext cx="1838325" cy="190500"/>
          </a:xfrm>
          <a:prstGeom prst="rect">
            <a:avLst/>
          </a:prstGeom>
          <a:solidFill>
            <a:srgbClr val="EEF6FC"/>
          </a:solidFill>
          <a:ln cap="flat" cmpd="sng" w="9525">
            <a:solidFill>
              <a:srgbClr val="EEF6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6"/>
          <p:cNvSpPr/>
          <p:nvPr/>
        </p:nvSpPr>
        <p:spPr>
          <a:xfrm>
            <a:off x="9505950" y="4838700"/>
            <a:ext cx="1838325" cy="190500"/>
          </a:xfrm>
          <a:prstGeom prst="rect">
            <a:avLst/>
          </a:prstGeom>
          <a:solidFill>
            <a:srgbClr val="073B78"/>
          </a:solidFill>
          <a:ln cap="flat" cmpd="sng" w="9525">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6"/>
          <p:cNvSpPr/>
          <p:nvPr/>
        </p:nvSpPr>
        <p:spPr>
          <a:xfrm>
            <a:off x="9620250" y="4829175"/>
            <a:ext cx="1571625" cy="209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25"/>
              <a:buFont typeface="Calibri"/>
              <a:buNone/>
            </a:pPr>
            <a:r>
              <a:rPr b="1" i="0" lang="en-US" sz="1125" u="none" cap="none" strike="noStrike">
                <a:solidFill>
                  <a:srgbClr val="FFFFFF"/>
                </a:solidFill>
                <a:latin typeface="Calibri"/>
                <a:ea typeface="Calibri"/>
                <a:cs typeface="Calibri"/>
                <a:sym typeface="Calibri"/>
              </a:rPr>
              <a:t>4.075</a:t>
            </a:r>
            <a:endParaRPr b="0" i="0" sz="1800" u="none" cap="none" strike="noStrike">
              <a:solidFill>
                <a:srgbClr val="000000"/>
              </a:solidFill>
              <a:latin typeface="Arial"/>
              <a:ea typeface="Arial"/>
              <a:cs typeface="Arial"/>
              <a:sym typeface="Arial"/>
            </a:endParaRPr>
          </a:p>
        </p:txBody>
      </p:sp>
      <p:sp>
        <p:nvSpPr>
          <p:cNvPr id="175" name="Google Shape;175;p6"/>
          <p:cNvSpPr/>
          <p:nvPr/>
        </p:nvSpPr>
        <p:spPr>
          <a:xfrm>
            <a:off x="8572500" y="5648325"/>
            <a:ext cx="2762250" cy="2476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Periode: 1 Juni–31 Agustus 2026</a:t>
            </a:r>
            <a:endParaRPr b="0" i="0" sz="1800" u="none" cap="none" strike="noStrike">
              <a:solidFill>
                <a:srgbClr val="000000"/>
              </a:solidFill>
              <a:latin typeface="Arial"/>
              <a:ea typeface="Arial"/>
              <a:cs typeface="Arial"/>
              <a:sym typeface="Arial"/>
            </a:endParaRPr>
          </a:p>
        </p:txBody>
      </p:sp>
      <p:sp>
        <p:nvSpPr>
          <p:cNvPr id="176" name="Google Shape;176;p6"/>
          <p:cNvSpPr/>
          <p:nvPr/>
        </p:nvSpPr>
        <p:spPr>
          <a:xfrm>
            <a:off x="571500" y="5848350"/>
            <a:ext cx="66675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25"/>
              <a:buFont typeface="Calibri"/>
              <a:buNone/>
            </a:pPr>
            <a:r>
              <a:rPr b="0" i="0" lang="en-US" sz="1125" u="none" cap="none" strike="noStrike">
                <a:solidFill>
                  <a:srgbClr val="64748B"/>
                </a:solidFill>
                <a:latin typeface="Calibri"/>
                <a:ea typeface="Calibri"/>
                <a:cs typeface="Calibri"/>
                <a:sym typeface="Calibri"/>
              </a:rPr>
              <a:t>Sumber: Google Play Store  |  app.bpjs.mobile</a:t>
            </a:r>
            <a:endParaRPr b="0" i="0" sz="1800" u="none" cap="none" strike="noStrike">
              <a:solidFill>
                <a:srgbClr val="000000"/>
              </a:solidFill>
              <a:latin typeface="Arial"/>
              <a:ea typeface="Arial"/>
              <a:cs typeface="Arial"/>
              <a:sym typeface="Arial"/>
            </a:endParaRPr>
          </a:p>
        </p:txBody>
      </p:sp>
      <p:pic>
        <p:nvPicPr>
          <p:cNvPr id="177" name="Google Shape;177;p6"/>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178" name="Google Shape;178;p6"/>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179" name="Google Shape;179;p6"/>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pic>
        <p:nvPicPr>
          <p:cNvPr id="185" name="Google Shape;185;p7"/>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186" name="Google Shape;186;p7"/>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187" name="Google Shape;187;p7"/>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188" name="Google Shape;188;p7"/>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PEMBAHASAN GOOGLE COLAB</a:t>
            </a:r>
            <a:endParaRPr b="0" i="0" sz="1800" u="none" cap="none" strike="noStrike">
              <a:solidFill>
                <a:srgbClr val="000000"/>
              </a:solidFill>
              <a:latin typeface="Arial"/>
              <a:ea typeface="Arial"/>
              <a:cs typeface="Arial"/>
              <a:sym typeface="Arial"/>
            </a:endParaRPr>
          </a:p>
        </p:txBody>
      </p:sp>
      <p:sp>
        <p:nvSpPr>
          <p:cNvPr id="189" name="Google Shape;189;p7"/>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7"/>
          <p:cNvSpPr txBox="1"/>
          <p:nvPr/>
        </p:nvSpPr>
        <p:spPr>
          <a:xfrm>
            <a:off x="2389650" y="2219350"/>
            <a:ext cx="7412700" cy="6465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D3748"/>
                </a:solidFill>
                <a:latin typeface="Calibri"/>
                <a:ea typeface="Calibri"/>
                <a:cs typeface="Calibri"/>
                <a:sym typeface="Calibri"/>
              </a:rPr>
              <a:t>Proses pengolahan data, pemodelan, evaluasi, dan output analisis ditampilkan melalui Google Colab.</a:t>
            </a:r>
            <a:endParaRPr b="0" i="0" sz="1400" u="none" cap="none" strike="noStrike">
              <a:solidFill>
                <a:srgbClr val="000000"/>
              </a:solidFill>
              <a:latin typeface="Arial"/>
              <a:ea typeface="Arial"/>
              <a:cs typeface="Arial"/>
              <a:sym typeface="Arial"/>
            </a:endParaRPr>
          </a:p>
        </p:txBody>
      </p:sp>
      <p:sp>
        <p:nvSpPr>
          <p:cNvPr id="191" name="Google Shape;191;p7"/>
          <p:cNvSpPr/>
          <p:nvPr/>
        </p:nvSpPr>
        <p:spPr>
          <a:xfrm>
            <a:off x="4195650" y="3731050"/>
            <a:ext cx="4251900" cy="890100"/>
          </a:xfrm>
          <a:prstGeom prst="roundRect">
            <a:avLst>
              <a:gd fmla="val 16667" name="adj"/>
            </a:avLst>
          </a:prstGeom>
          <a:solidFill>
            <a:srgbClr val="073B7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sng" cap="none" strike="noStrike">
                <a:solidFill>
                  <a:srgbClr val="FFFFFF"/>
                </a:solidFill>
                <a:latin typeface="Calibri"/>
                <a:ea typeface="Calibri"/>
                <a:cs typeface="Calibri"/>
                <a:sym typeface="Calibri"/>
                <a:hlinkClick r:id="rId5">
                  <a:extLst>
                    <a:ext uri="{A12FA001-AC4F-418D-AE19-62706E023703}">
                      <ahyp:hlinkClr val="tx"/>
                    </a:ext>
                  </a:extLst>
                </a:hlinkClick>
              </a:rPr>
              <a:t>BUKA GOOGLE COLAB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8"/>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REKOMENDASI</a:t>
            </a:r>
            <a:endParaRPr b="0" i="0" sz="1800" u="none" cap="none" strike="noStrike">
              <a:solidFill>
                <a:srgbClr val="000000"/>
              </a:solidFill>
              <a:latin typeface="Arial"/>
              <a:ea typeface="Arial"/>
              <a:cs typeface="Arial"/>
              <a:sym typeface="Arial"/>
            </a:endParaRPr>
          </a:p>
        </p:txBody>
      </p:sp>
      <p:sp>
        <p:nvSpPr>
          <p:cNvPr id="198" name="Google Shape;198;p8"/>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p8"/>
          <p:cNvSpPr/>
          <p:nvPr/>
        </p:nvSpPr>
        <p:spPr>
          <a:xfrm>
            <a:off x="2139113" y="2416841"/>
            <a:ext cx="1000125" cy="1000125"/>
          </a:xfrm>
          <a:prstGeom prst="ellipse">
            <a:avLst/>
          </a:prstGeom>
          <a:solidFill>
            <a:srgbClr val="FFFFFF"/>
          </a:solidFill>
          <a:ln cap="flat" cmpd="sng" w="95250">
            <a:solidFill>
              <a:srgbClr val="37B8B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8"/>
          <p:cNvSpPr/>
          <p:nvPr/>
        </p:nvSpPr>
        <p:spPr>
          <a:xfrm>
            <a:off x="1710488" y="3655091"/>
            <a:ext cx="1857375"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7B8B3"/>
              </a:buClr>
              <a:buSzPts val="1125"/>
              <a:buFont typeface="Calibri"/>
              <a:buNone/>
            </a:pPr>
            <a:r>
              <a:rPr b="1" i="0" lang="en-US" sz="1050" u="none" cap="none" strike="noStrike">
                <a:solidFill>
                  <a:srgbClr val="27ABAE"/>
                </a:solidFill>
                <a:latin typeface="Calibri"/>
                <a:ea typeface="Calibri"/>
                <a:cs typeface="Calibri"/>
                <a:sym typeface="Calibri"/>
              </a:rPr>
              <a:t>PRIORITAS 01</a:t>
            </a:r>
            <a:endParaRPr b="0" i="0" sz="1800" u="none" cap="none" strike="noStrike">
              <a:solidFill>
                <a:srgbClr val="000000"/>
              </a:solidFill>
              <a:latin typeface="Arial"/>
              <a:ea typeface="Arial"/>
              <a:cs typeface="Arial"/>
              <a:sym typeface="Arial"/>
            </a:endParaRPr>
          </a:p>
        </p:txBody>
      </p:sp>
      <p:sp>
        <p:nvSpPr>
          <p:cNvPr id="201" name="Google Shape;201;p8"/>
          <p:cNvSpPr/>
          <p:nvPr/>
        </p:nvSpPr>
        <p:spPr>
          <a:xfrm>
            <a:off x="1491413" y="3940841"/>
            <a:ext cx="2286000" cy="70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950"/>
              <a:buFont typeface="Calibri"/>
              <a:buNone/>
            </a:pPr>
            <a:r>
              <a:rPr b="1" i="0" lang="en-US" sz="1700" u="none" cap="none" strike="noStrike">
                <a:solidFill>
                  <a:srgbClr val="0B0F14"/>
                </a:solidFill>
                <a:latin typeface="Calibri"/>
                <a:ea typeface="Calibri"/>
                <a:cs typeface="Calibri"/>
                <a:sym typeface="Calibri"/>
              </a:rPr>
              <a:t>Stabilitas Akses</a:t>
            </a:r>
            <a:endParaRPr b="0" i="0" sz="1800" u="none" cap="none" strike="noStrike">
              <a:solidFill>
                <a:srgbClr val="000000"/>
              </a:solidFill>
              <a:latin typeface="Arial"/>
              <a:ea typeface="Arial"/>
              <a:cs typeface="Arial"/>
              <a:sym typeface="Arial"/>
            </a:endParaRPr>
          </a:p>
        </p:txBody>
      </p:sp>
      <p:sp>
        <p:nvSpPr>
          <p:cNvPr id="202" name="Google Shape;202;p8"/>
          <p:cNvSpPr/>
          <p:nvPr/>
        </p:nvSpPr>
        <p:spPr>
          <a:xfrm>
            <a:off x="1315920" y="4474250"/>
            <a:ext cx="2637000" cy="857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275"/>
              <a:buFont typeface="Calibri"/>
              <a:buNone/>
            </a:pPr>
            <a:r>
              <a:rPr b="0" i="0" lang="en-US" sz="1200" u="none" cap="none" strike="noStrike">
                <a:solidFill>
                  <a:srgbClr val="2D3748"/>
                </a:solidFill>
                <a:latin typeface="Calibri"/>
                <a:ea typeface="Calibri"/>
                <a:cs typeface="Calibri"/>
                <a:sym typeface="Calibri"/>
              </a:rPr>
              <a:t>Prioritaskan perbaikan pada proses pendaftaran, login, verifikasi, dan OTP agar akses layanan lebih stabil dan mudah digunakan.</a:t>
            </a:r>
            <a:endParaRPr b="0" i="0" sz="3800" u="none" cap="none" strike="noStrike">
              <a:solidFill>
                <a:srgbClr val="000000"/>
              </a:solidFill>
              <a:latin typeface="Arial"/>
              <a:ea typeface="Arial"/>
              <a:cs typeface="Arial"/>
              <a:sym typeface="Arial"/>
            </a:endParaRPr>
          </a:p>
        </p:txBody>
      </p:sp>
      <p:sp>
        <p:nvSpPr>
          <p:cNvPr id="203" name="Google Shape;203;p8"/>
          <p:cNvSpPr/>
          <p:nvPr/>
        </p:nvSpPr>
        <p:spPr>
          <a:xfrm>
            <a:off x="5663363" y="2416841"/>
            <a:ext cx="1000125" cy="1000125"/>
          </a:xfrm>
          <a:prstGeom prst="ellipse">
            <a:avLst/>
          </a:prstGeom>
          <a:solidFill>
            <a:srgbClr val="FFFFFF"/>
          </a:solidFill>
          <a:ln cap="flat" cmpd="sng" w="95250">
            <a:solidFill>
              <a:srgbClr val="073B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8"/>
          <p:cNvSpPr/>
          <p:nvPr/>
        </p:nvSpPr>
        <p:spPr>
          <a:xfrm>
            <a:off x="5663363" y="2740691"/>
            <a:ext cx="1000125"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725"/>
              <a:buFont typeface="Calibri"/>
              <a:buNone/>
            </a:pPr>
            <a:r>
              <a:rPr b="1" i="0" lang="en-US" sz="1100" u="none" cap="none" strike="noStrike">
                <a:solidFill>
                  <a:srgbClr val="073B78"/>
                </a:solidFill>
                <a:latin typeface="Calibri"/>
                <a:ea typeface="Calibri"/>
                <a:cs typeface="Calibri"/>
                <a:sym typeface="Calibri"/>
              </a:rPr>
              <a:t>02</a:t>
            </a:r>
            <a:endParaRPr b="0" i="0" sz="1800" u="none" cap="none" strike="noStrike">
              <a:solidFill>
                <a:srgbClr val="000000"/>
              </a:solidFill>
              <a:latin typeface="Arial"/>
              <a:ea typeface="Arial"/>
              <a:cs typeface="Arial"/>
              <a:sym typeface="Arial"/>
            </a:endParaRPr>
          </a:p>
        </p:txBody>
      </p:sp>
      <p:sp>
        <p:nvSpPr>
          <p:cNvPr id="205" name="Google Shape;205;p8"/>
          <p:cNvSpPr/>
          <p:nvPr/>
        </p:nvSpPr>
        <p:spPr>
          <a:xfrm>
            <a:off x="5234738" y="3655091"/>
            <a:ext cx="1857375"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125"/>
              <a:buFont typeface="Calibri"/>
              <a:buNone/>
            </a:pPr>
            <a:r>
              <a:rPr b="1" i="0" lang="en-US" sz="1050" u="none" cap="none" strike="noStrike">
                <a:solidFill>
                  <a:srgbClr val="073B78"/>
                </a:solidFill>
                <a:latin typeface="Calibri"/>
                <a:ea typeface="Calibri"/>
                <a:cs typeface="Calibri"/>
                <a:sym typeface="Calibri"/>
              </a:rPr>
              <a:t>PRIORITAS 02</a:t>
            </a:r>
            <a:endParaRPr b="0" i="0" sz="1800" u="none" cap="none" strike="noStrike">
              <a:solidFill>
                <a:srgbClr val="000000"/>
              </a:solidFill>
              <a:latin typeface="Arial"/>
              <a:ea typeface="Arial"/>
              <a:cs typeface="Arial"/>
              <a:sym typeface="Arial"/>
            </a:endParaRPr>
          </a:p>
        </p:txBody>
      </p:sp>
      <p:sp>
        <p:nvSpPr>
          <p:cNvPr id="206" name="Google Shape;206;p8"/>
          <p:cNvSpPr/>
          <p:nvPr/>
        </p:nvSpPr>
        <p:spPr>
          <a:xfrm>
            <a:off x="5015663" y="3940841"/>
            <a:ext cx="2286000" cy="70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950"/>
              <a:buFont typeface="Calibri"/>
              <a:buNone/>
            </a:pPr>
            <a:r>
              <a:rPr b="1" i="0" lang="en-US" sz="1700" u="none" cap="none" strike="noStrike">
                <a:solidFill>
                  <a:srgbClr val="0B0F14"/>
                </a:solidFill>
                <a:latin typeface="Calibri"/>
                <a:ea typeface="Calibri"/>
                <a:cs typeface="Calibri"/>
                <a:sym typeface="Calibri"/>
              </a:rPr>
              <a:t>Informasi Kendala</a:t>
            </a:r>
            <a:endParaRPr b="1" i="0" sz="1950" u="none" cap="none" strike="noStrike">
              <a:solidFill>
                <a:srgbClr val="0B0F14"/>
              </a:solidFill>
              <a:latin typeface="Calibri"/>
              <a:ea typeface="Calibri"/>
              <a:cs typeface="Calibri"/>
              <a:sym typeface="Calibri"/>
            </a:endParaRPr>
          </a:p>
        </p:txBody>
      </p:sp>
      <p:sp>
        <p:nvSpPr>
          <p:cNvPr id="207" name="Google Shape;207;p8"/>
          <p:cNvSpPr/>
          <p:nvPr/>
        </p:nvSpPr>
        <p:spPr>
          <a:xfrm>
            <a:off x="4568000" y="4481275"/>
            <a:ext cx="3329700" cy="79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275"/>
              <a:buFont typeface="Calibri"/>
              <a:buNone/>
            </a:pPr>
            <a:r>
              <a:rPr b="0" i="0" lang="en-US" sz="1200" u="none" cap="none" strike="noStrike">
                <a:solidFill>
                  <a:srgbClr val="2D3748"/>
                </a:solidFill>
                <a:latin typeface="Calibri"/>
                <a:ea typeface="Calibri"/>
                <a:cs typeface="Calibri"/>
                <a:sym typeface="Calibri"/>
              </a:rPr>
              <a:t>Tampilkan pesan kesalahan dan petunjuk yang jelas agar pengguna mengetahui langkah yang perlu dilakukan ketika terjadi kendala.</a:t>
            </a:r>
            <a:endParaRPr b="0" i="0" sz="3475" u="none" cap="none" strike="noStrike">
              <a:solidFill>
                <a:srgbClr val="2D3748"/>
              </a:solidFill>
              <a:latin typeface="Calibri"/>
              <a:ea typeface="Calibri"/>
              <a:cs typeface="Calibri"/>
              <a:sym typeface="Calibri"/>
            </a:endParaRPr>
          </a:p>
        </p:txBody>
      </p:sp>
      <p:sp>
        <p:nvSpPr>
          <p:cNvPr id="208" name="Google Shape;208;p8"/>
          <p:cNvSpPr/>
          <p:nvPr/>
        </p:nvSpPr>
        <p:spPr>
          <a:xfrm>
            <a:off x="9187613" y="2416841"/>
            <a:ext cx="1000125" cy="1000125"/>
          </a:xfrm>
          <a:prstGeom prst="ellipse">
            <a:avLst/>
          </a:prstGeom>
          <a:solidFill>
            <a:srgbClr val="FFFFFF"/>
          </a:solidFill>
          <a:ln cap="flat" cmpd="sng" w="95250">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8"/>
          <p:cNvSpPr/>
          <p:nvPr/>
        </p:nvSpPr>
        <p:spPr>
          <a:xfrm>
            <a:off x="9187613" y="2740691"/>
            <a:ext cx="1000125" cy="3238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3A9E1"/>
              </a:buClr>
              <a:buSzPts val="1725"/>
              <a:buFont typeface="Calibri"/>
              <a:buNone/>
            </a:pPr>
            <a:r>
              <a:rPr b="1" i="0" lang="en-US" sz="1100" u="none" cap="none" strike="noStrike">
                <a:solidFill>
                  <a:srgbClr val="27ABAE"/>
                </a:solidFill>
                <a:latin typeface="Calibri"/>
                <a:ea typeface="Calibri"/>
                <a:cs typeface="Calibri"/>
                <a:sym typeface="Calibri"/>
              </a:rPr>
              <a:t>03</a:t>
            </a:r>
            <a:endParaRPr b="0" i="0" sz="1800" u="none" cap="none" strike="noStrike">
              <a:solidFill>
                <a:srgbClr val="000000"/>
              </a:solidFill>
              <a:latin typeface="Arial"/>
              <a:ea typeface="Arial"/>
              <a:cs typeface="Arial"/>
              <a:sym typeface="Arial"/>
            </a:endParaRPr>
          </a:p>
        </p:txBody>
      </p:sp>
      <p:sp>
        <p:nvSpPr>
          <p:cNvPr id="210" name="Google Shape;210;p8"/>
          <p:cNvSpPr/>
          <p:nvPr/>
        </p:nvSpPr>
        <p:spPr>
          <a:xfrm>
            <a:off x="8758988" y="3655091"/>
            <a:ext cx="1857375"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3A9E1"/>
              </a:buClr>
              <a:buSzPts val="1125"/>
              <a:buFont typeface="Calibri"/>
              <a:buNone/>
            </a:pPr>
            <a:r>
              <a:rPr b="1" i="0" lang="en-US" sz="1050" u="none" cap="none" strike="noStrike">
                <a:solidFill>
                  <a:srgbClr val="27ABAE"/>
                </a:solidFill>
                <a:latin typeface="Calibri"/>
                <a:ea typeface="Calibri"/>
                <a:cs typeface="Calibri"/>
                <a:sym typeface="Calibri"/>
              </a:rPr>
              <a:t>PRIORITAS 03</a:t>
            </a:r>
            <a:endParaRPr b="0" i="0" sz="1800" u="none" cap="none" strike="noStrike">
              <a:solidFill>
                <a:srgbClr val="000000"/>
              </a:solidFill>
              <a:latin typeface="Arial"/>
              <a:ea typeface="Arial"/>
              <a:cs typeface="Arial"/>
              <a:sym typeface="Arial"/>
            </a:endParaRPr>
          </a:p>
        </p:txBody>
      </p:sp>
      <p:sp>
        <p:nvSpPr>
          <p:cNvPr id="211" name="Google Shape;211;p8"/>
          <p:cNvSpPr/>
          <p:nvPr/>
        </p:nvSpPr>
        <p:spPr>
          <a:xfrm>
            <a:off x="8539913" y="3940841"/>
            <a:ext cx="2286000" cy="70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1950"/>
              <a:buFont typeface="Calibri"/>
              <a:buNone/>
            </a:pPr>
            <a:r>
              <a:rPr b="1" i="0" lang="en-US" sz="1700" u="none" cap="none" strike="noStrike">
                <a:solidFill>
                  <a:srgbClr val="0B0F14"/>
                </a:solidFill>
                <a:latin typeface="Calibri"/>
                <a:ea typeface="Calibri"/>
                <a:cs typeface="Calibri"/>
                <a:sym typeface="Calibri"/>
              </a:rPr>
              <a:t>Kemudahan Layanan</a:t>
            </a:r>
            <a:endParaRPr b="0" i="0" sz="1800" u="none" cap="none" strike="noStrike">
              <a:solidFill>
                <a:srgbClr val="000000"/>
              </a:solidFill>
              <a:latin typeface="Arial"/>
              <a:ea typeface="Arial"/>
              <a:cs typeface="Arial"/>
              <a:sym typeface="Arial"/>
            </a:endParaRPr>
          </a:p>
        </p:txBody>
      </p:sp>
      <p:sp>
        <p:nvSpPr>
          <p:cNvPr id="212" name="Google Shape;212;p8"/>
          <p:cNvSpPr/>
          <p:nvPr/>
        </p:nvSpPr>
        <p:spPr>
          <a:xfrm>
            <a:off x="8067988" y="4474250"/>
            <a:ext cx="3239400" cy="795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D3748"/>
              </a:buClr>
              <a:buSzPts val="1275"/>
              <a:buFont typeface="Calibri"/>
              <a:buNone/>
            </a:pPr>
            <a:r>
              <a:rPr b="0" i="0" lang="en-US" sz="1200" u="none" cap="none" strike="noStrike">
                <a:solidFill>
                  <a:srgbClr val="2D3748"/>
                </a:solidFill>
                <a:latin typeface="Calibri"/>
                <a:ea typeface="Calibri"/>
                <a:cs typeface="Calibri"/>
                <a:sym typeface="Calibri"/>
              </a:rPr>
              <a:t>Pertahankan fitur yang memudahkan peserta memperoleh informasi dan mengakses layanan kesehatan melalui aplikasi.</a:t>
            </a:r>
            <a:endParaRPr b="0" i="0" sz="3900" u="none" cap="none" strike="noStrike">
              <a:solidFill>
                <a:srgbClr val="000000"/>
              </a:solidFill>
              <a:latin typeface="Arial"/>
              <a:ea typeface="Arial"/>
              <a:cs typeface="Arial"/>
              <a:sym typeface="Arial"/>
            </a:endParaRPr>
          </a:p>
        </p:txBody>
      </p:sp>
      <p:sp>
        <p:nvSpPr>
          <p:cNvPr id="213" name="Google Shape;213;p8"/>
          <p:cNvSpPr/>
          <p:nvPr/>
        </p:nvSpPr>
        <p:spPr>
          <a:xfrm>
            <a:off x="7657094" y="2874041"/>
            <a:ext cx="476250" cy="2857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1275"/>
              <a:buFont typeface="Calibri"/>
              <a:buNone/>
            </a:pPr>
            <a:r>
              <a:t/>
            </a:r>
            <a:endParaRPr b="0" i="0" sz="1800" u="none" cap="none" strike="noStrike">
              <a:solidFill>
                <a:srgbClr val="000000"/>
              </a:solidFill>
              <a:latin typeface="Arial"/>
              <a:ea typeface="Arial"/>
              <a:cs typeface="Arial"/>
              <a:sym typeface="Arial"/>
            </a:endParaRPr>
          </a:p>
        </p:txBody>
      </p:sp>
      <p:pic>
        <p:nvPicPr>
          <p:cNvPr id="214" name="Google Shape;214;p8"/>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215" name="Google Shape;215;p8"/>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216" name="Google Shape;216;p8"/>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217" name="Google Shape;217;p8"/>
          <p:cNvSpPr/>
          <p:nvPr/>
        </p:nvSpPr>
        <p:spPr>
          <a:xfrm>
            <a:off x="2139038" y="2740541"/>
            <a:ext cx="1000200" cy="324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73B78"/>
              </a:buClr>
              <a:buSzPts val="1725"/>
              <a:buFont typeface="Calibri"/>
              <a:buNone/>
            </a:pPr>
            <a:r>
              <a:rPr b="1" i="0" lang="en-US" sz="1100" u="none" cap="none" strike="noStrike">
                <a:solidFill>
                  <a:srgbClr val="073B78"/>
                </a:solidFill>
                <a:latin typeface="Calibri"/>
                <a:ea typeface="Calibri"/>
                <a:cs typeface="Calibri"/>
                <a:sym typeface="Calibri"/>
              </a:rPr>
              <a:t>0</a:t>
            </a:r>
            <a:r>
              <a:rPr b="1" lang="en-US" sz="1100">
                <a:solidFill>
                  <a:srgbClr val="073B78"/>
                </a:solidFill>
                <a:latin typeface="Calibri"/>
                <a:ea typeface="Calibri"/>
                <a:cs typeface="Calibri"/>
                <a:sym typeface="Calibri"/>
              </a:rPr>
              <a:t>1</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9"/>
          <p:cNvSpPr/>
          <p:nvPr/>
        </p:nvSpPr>
        <p:spPr>
          <a:xfrm>
            <a:off x="685800" y="1028700"/>
            <a:ext cx="10820400" cy="5238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2550" u="none" cap="none" strike="noStrike">
                <a:solidFill>
                  <a:srgbClr val="0B0F14"/>
                </a:solidFill>
                <a:latin typeface="Calibri"/>
                <a:ea typeface="Calibri"/>
                <a:cs typeface="Calibri"/>
                <a:sym typeface="Calibri"/>
              </a:rPr>
              <a:t>SARAN PENELITIAN SELANJUTNYA</a:t>
            </a:r>
            <a:endParaRPr b="0" i="0" sz="1800" u="none" cap="none" strike="noStrike">
              <a:solidFill>
                <a:srgbClr val="000000"/>
              </a:solidFill>
              <a:latin typeface="Arial"/>
              <a:ea typeface="Arial"/>
              <a:cs typeface="Arial"/>
              <a:sym typeface="Arial"/>
            </a:endParaRPr>
          </a:p>
        </p:txBody>
      </p:sp>
      <p:sp>
        <p:nvSpPr>
          <p:cNvPr id="224" name="Google Shape;224;p9"/>
          <p:cNvSpPr/>
          <p:nvPr/>
        </p:nvSpPr>
        <p:spPr>
          <a:xfrm>
            <a:off x="5381625" y="1581150"/>
            <a:ext cx="1428750" cy="47625"/>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9"/>
          <p:cNvSpPr/>
          <p:nvPr/>
        </p:nvSpPr>
        <p:spPr>
          <a:xfrm>
            <a:off x="1289989" y="2051113"/>
            <a:ext cx="2276100" cy="455100"/>
          </a:xfrm>
          <a:prstGeom prst="rect">
            <a:avLst/>
          </a:prstGeom>
          <a:noFill/>
          <a:ln>
            <a:noFill/>
          </a:ln>
        </p:spPr>
        <p:txBody>
          <a:bodyPr anchorCtr="0" anchor="t" bIns="52000" lIns="104025" spcFirstLastPara="1" rIns="104025" wrap="square" tIns="52000">
            <a:noAutofit/>
          </a:bodyPr>
          <a:lstStyle/>
          <a:p>
            <a:pPr indent="0" lvl="0" marL="0" marR="0" rtl="0" algn="ctr">
              <a:lnSpc>
                <a:spcPct val="100000"/>
              </a:lnSpc>
              <a:spcBef>
                <a:spcPts val="0"/>
              </a:spcBef>
              <a:spcAft>
                <a:spcPts val="0"/>
              </a:spcAft>
              <a:buClr>
                <a:srgbClr val="073B78"/>
              </a:buClr>
              <a:buSzPts val="2475"/>
              <a:buFont typeface="Calibri"/>
              <a:buNone/>
            </a:pPr>
            <a:r>
              <a:rPr b="1" i="0" lang="en-US" sz="2845" u="none" cap="none" strike="noStrike">
                <a:solidFill>
                  <a:srgbClr val="073B78"/>
                </a:solidFill>
                <a:latin typeface="Calibri"/>
                <a:ea typeface="Calibri"/>
                <a:cs typeface="Calibri"/>
                <a:sym typeface="Calibri"/>
              </a:rPr>
              <a:t>01</a:t>
            </a:r>
            <a:endParaRPr b="0" i="0" sz="2048" u="none" cap="none" strike="noStrike">
              <a:solidFill>
                <a:srgbClr val="000000"/>
              </a:solidFill>
              <a:latin typeface="Arial"/>
              <a:ea typeface="Arial"/>
              <a:cs typeface="Arial"/>
              <a:sym typeface="Arial"/>
            </a:endParaRPr>
          </a:p>
        </p:txBody>
      </p:sp>
      <p:sp>
        <p:nvSpPr>
          <p:cNvPr id="226" name="Google Shape;226;p9"/>
          <p:cNvSpPr/>
          <p:nvPr/>
        </p:nvSpPr>
        <p:spPr>
          <a:xfrm>
            <a:off x="1290004" y="2495500"/>
            <a:ext cx="2926800" cy="270900"/>
          </a:xfrm>
          <a:prstGeom prst="rect">
            <a:avLst/>
          </a:prstGeom>
          <a:noFill/>
          <a:ln>
            <a:noFill/>
          </a:ln>
        </p:spPr>
        <p:txBody>
          <a:bodyPr anchorCtr="0" anchor="t" bIns="52000" lIns="104025" spcFirstLastPara="1" rIns="104025" wrap="square" tIns="52000">
            <a:noAutofit/>
          </a:bodyPr>
          <a:lstStyle/>
          <a:p>
            <a:pPr indent="0" lvl="0" marL="0" marR="0" rtl="0" algn="l">
              <a:lnSpc>
                <a:spcPct val="100000"/>
              </a:lnSpc>
              <a:spcBef>
                <a:spcPts val="0"/>
              </a:spcBef>
              <a:spcAft>
                <a:spcPts val="0"/>
              </a:spcAft>
              <a:buNone/>
            </a:pPr>
            <a:r>
              <a:rPr b="0" i="0" lang="en-US" sz="1593" u="none" cap="none" strike="noStrike">
                <a:solidFill>
                  <a:srgbClr val="000000"/>
                </a:solidFill>
                <a:latin typeface="Arial"/>
                <a:ea typeface="Arial"/>
                <a:cs typeface="Arial"/>
                <a:sym typeface="Arial"/>
              </a:rPr>
              <a:t>Perluasan &amp; Kualitas Data</a:t>
            </a:r>
            <a:endParaRPr sz="1593"/>
          </a:p>
        </p:txBody>
      </p:sp>
      <p:sp>
        <p:nvSpPr>
          <p:cNvPr id="227" name="Google Shape;227;p9"/>
          <p:cNvSpPr/>
          <p:nvPr/>
        </p:nvSpPr>
        <p:spPr>
          <a:xfrm>
            <a:off x="1449411" y="3086202"/>
            <a:ext cx="1517400" cy="32400"/>
          </a:xfrm>
          <a:prstGeom prst="rect">
            <a:avLst/>
          </a:prstGeom>
          <a:solidFill>
            <a:srgbClr val="23A9E1"/>
          </a:solidFill>
          <a:ln cap="flat" cmpd="sng" w="10850">
            <a:solidFill>
              <a:srgbClr val="23A9E1"/>
            </a:solidFill>
            <a:prstDash val="solid"/>
            <a:round/>
            <a:headEnd len="sm" w="sm" type="none"/>
            <a:tailEnd len="sm" w="sm" type="none"/>
          </a:ln>
        </p:spPr>
        <p:txBody>
          <a:bodyPr anchorCtr="0" anchor="t" bIns="52000" lIns="104025" spcFirstLastPara="1" rIns="104025" wrap="square" tIns="52000">
            <a:noAutofit/>
          </a:bodyPr>
          <a:lstStyle/>
          <a:p>
            <a:pPr indent="0" lvl="0" marL="0" marR="0" rtl="0" algn="l">
              <a:lnSpc>
                <a:spcPct val="100000"/>
              </a:lnSpc>
              <a:spcBef>
                <a:spcPts val="0"/>
              </a:spcBef>
              <a:spcAft>
                <a:spcPts val="0"/>
              </a:spcAft>
              <a:buClr>
                <a:srgbClr val="000000"/>
              </a:buClr>
              <a:buSzPts val="2048"/>
              <a:buFont typeface="Arial"/>
              <a:buNone/>
            </a:pPr>
            <a:r>
              <a:t/>
            </a:r>
            <a:endParaRPr b="0" i="0" sz="2048" u="none" cap="none" strike="noStrike">
              <a:solidFill>
                <a:schemeClr val="dk1"/>
              </a:solidFill>
              <a:latin typeface="Calibri"/>
              <a:ea typeface="Calibri"/>
              <a:cs typeface="Calibri"/>
              <a:sym typeface="Calibri"/>
            </a:endParaRPr>
          </a:p>
        </p:txBody>
      </p:sp>
      <p:sp>
        <p:nvSpPr>
          <p:cNvPr id="228" name="Google Shape;228;p9"/>
          <p:cNvSpPr/>
          <p:nvPr/>
        </p:nvSpPr>
        <p:spPr>
          <a:xfrm>
            <a:off x="4636068" y="2051113"/>
            <a:ext cx="2276100" cy="455100"/>
          </a:xfrm>
          <a:prstGeom prst="rect">
            <a:avLst/>
          </a:prstGeom>
          <a:noFill/>
          <a:ln>
            <a:noFill/>
          </a:ln>
        </p:spPr>
        <p:txBody>
          <a:bodyPr anchorCtr="0" anchor="t" bIns="52000" lIns="104025" spcFirstLastPara="1" rIns="104025" wrap="square" tIns="52000">
            <a:noAutofit/>
          </a:bodyPr>
          <a:lstStyle/>
          <a:p>
            <a:pPr indent="0" lvl="0" marL="0" marR="0" rtl="0" algn="ctr">
              <a:lnSpc>
                <a:spcPct val="100000"/>
              </a:lnSpc>
              <a:spcBef>
                <a:spcPts val="0"/>
              </a:spcBef>
              <a:spcAft>
                <a:spcPts val="0"/>
              </a:spcAft>
              <a:buClr>
                <a:srgbClr val="073B78"/>
              </a:buClr>
              <a:buSzPts val="2475"/>
              <a:buFont typeface="Calibri"/>
              <a:buNone/>
            </a:pPr>
            <a:r>
              <a:rPr b="1" i="0" lang="en-US" sz="2845" u="none" cap="none" strike="noStrike">
                <a:solidFill>
                  <a:srgbClr val="073B78"/>
                </a:solidFill>
                <a:latin typeface="Calibri"/>
                <a:ea typeface="Calibri"/>
                <a:cs typeface="Calibri"/>
                <a:sym typeface="Calibri"/>
              </a:rPr>
              <a:t>02</a:t>
            </a:r>
            <a:endParaRPr b="0" i="0" sz="2048" u="none" cap="none" strike="noStrike">
              <a:solidFill>
                <a:srgbClr val="000000"/>
              </a:solidFill>
              <a:latin typeface="Arial"/>
              <a:ea typeface="Arial"/>
              <a:cs typeface="Arial"/>
              <a:sym typeface="Arial"/>
            </a:endParaRPr>
          </a:p>
        </p:txBody>
      </p:sp>
      <p:sp>
        <p:nvSpPr>
          <p:cNvPr id="229" name="Google Shape;229;p9"/>
          <p:cNvSpPr/>
          <p:nvPr/>
        </p:nvSpPr>
        <p:spPr>
          <a:xfrm>
            <a:off x="4636067" y="2495500"/>
            <a:ext cx="2926800" cy="270900"/>
          </a:xfrm>
          <a:prstGeom prst="rect">
            <a:avLst/>
          </a:prstGeom>
          <a:noFill/>
          <a:ln>
            <a:noFill/>
          </a:ln>
        </p:spPr>
        <p:txBody>
          <a:bodyPr anchorCtr="0" anchor="t" bIns="52000" lIns="104025" spcFirstLastPara="1" rIns="104025" wrap="square" tIns="52000">
            <a:noAutofit/>
          </a:bodyPr>
          <a:lstStyle/>
          <a:p>
            <a:pPr indent="0" lvl="0" marL="0" marR="0" rtl="0" algn="l">
              <a:lnSpc>
                <a:spcPct val="100000"/>
              </a:lnSpc>
              <a:spcBef>
                <a:spcPts val="0"/>
              </a:spcBef>
              <a:spcAft>
                <a:spcPts val="0"/>
              </a:spcAft>
              <a:buNone/>
            </a:pPr>
            <a:r>
              <a:rPr b="0" i="0" lang="en-US" sz="1593" u="none" cap="none" strike="noStrike">
                <a:solidFill>
                  <a:srgbClr val="000000"/>
                </a:solidFill>
                <a:latin typeface="Arial"/>
                <a:ea typeface="Arial"/>
                <a:cs typeface="Arial"/>
                <a:sym typeface="Arial"/>
              </a:rPr>
              <a:t>Penyeimbangan Label Netral</a:t>
            </a:r>
            <a:endParaRPr sz="1593"/>
          </a:p>
        </p:txBody>
      </p:sp>
      <p:sp>
        <p:nvSpPr>
          <p:cNvPr id="230" name="Google Shape;230;p9"/>
          <p:cNvSpPr/>
          <p:nvPr/>
        </p:nvSpPr>
        <p:spPr>
          <a:xfrm>
            <a:off x="4716973" y="3086202"/>
            <a:ext cx="1517400" cy="32400"/>
          </a:xfrm>
          <a:prstGeom prst="rect">
            <a:avLst/>
          </a:prstGeom>
          <a:solidFill>
            <a:srgbClr val="23A9E1"/>
          </a:solidFill>
          <a:ln cap="flat" cmpd="sng" w="10850">
            <a:solidFill>
              <a:srgbClr val="23A9E1"/>
            </a:solidFill>
            <a:prstDash val="solid"/>
            <a:round/>
            <a:headEnd len="sm" w="sm" type="none"/>
            <a:tailEnd len="sm" w="sm" type="none"/>
          </a:ln>
        </p:spPr>
        <p:txBody>
          <a:bodyPr anchorCtr="0" anchor="t" bIns="52000" lIns="104025" spcFirstLastPara="1" rIns="104025" wrap="square" tIns="52000">
            <a:noAutofit/>
          </a:bodyPr>
          <a:lstStyle/>
          <a:p>
            <a:pPr indent="0" lvl="0" marL="0" marR="0" rtl="0" algn="l">
              <a:lnSpc>
                <a:spcPct val="100000"/>
              </a:lnSpc>
              <a:spcBef>
                <a:spcPts val="0"/>
              </a:spcBef>
              <a:spcAft>
                <a:spcPts val="0"/>
              </a:spcAft>
              <a:buClr>
                <a:srgbClr val="000000"/>
              </a:buClr>
              <a:buSzPts val="2048"/>
              <a:buFont typeface="Arial"/>
              <a:buNone/>
            </a:pPr>
            <a:r>
              <a:t/>
            </a:r>
            <a:endParaRPr b="0" i="0" sz="2048" u="none" cap="none" strike="noStrike">
              <a:solidFill>
                <a:schemeClr val="dk1"/>
              </a:solidFill>
              <a:latin typeface="Calibri"/>
              <a:ea typeface="Calibri"/>
              <a:cs typeface="Calibri"/>
              <a:sym typeface="Calibri"/>
            </a:endParaRPr>
          </a:p>
        </p:txBody>
      </p:sp>
      <p:sp>
        <p:nvSpPr>
          <p:cNvPr id="231" name="Google Shape;231;p9"/>
          <p:cNvSpPr/>
          <p:nvPr/>
        </p:nvSpPr>
        <p:spPr>
          <a:xfrm>
            <a:off x="8222911" y="2051113"/>
            <a:ext cx="2276100" cy="455100"/>
          </a:xfrm>
          <a:prstGeom prst="rect">
            <a:avLst/>
          </a:prstGeom>
          <a:noFill/>
          <a:ln>
            <a:noFill/>
          </a:ln>
        </p:spPr>
        <p:txBody>
          <a:bodyPr anchorCtr="0" anchor="t" bIns="52000" lIns="104025" spcFirstLastPara="1" rIns="104025" wrap="square" tIns="52000">
            <a:noAutofit/>
          </a:bodyPr>
          <a:lstStyle/>
          <a:p>
            <a:pPr indent="0" lvl="0" marL="0" marR="0" rtl="0" algn="ctr">
              <a:lnSpc>
                <a:spcPct val="100000"/>
              </a:lnSpc>
              <a:spcBef>
                <a:spcPts val="0"/>
              </a:spcBef>
              <a:spcAft>
                <a:spcPts val="0"/>
              </a:spcAft>
              <a:buClr>
                <a:srgbClr val="37B8B3"/>
              </a:buClr>
              <a:buSzPts val="2475"/>
              <a:buFont typeface="Calibri"/>
              <a:buNone/>
            </a:pPr>
            <a:r>
              <a:rPr b="1" i="0" lang="en-US" sz="2845" u="none" cap="none" strike="noStrike">
                <a:solidFill>
                  <a:srgbClr val="073B78"/>
                </a:solidFill>
                <a:latin typeface="Calibri"/>
                <a:ea typeface="Calibri"/>
                <a:cs typeface="Calibri"/>
                <a:sym typeface="Calibri"/>
              </a:rPr>
              <a:t>03</a:t>
            </a:r>
            <a:endParaRPr b="0" i="0" sz="2048" u="none" cap="none" strike="noStrike">
              <a:solidFill>
                <a:srgbClr val="000000"/>
              </a:solidFill>
              <a:latin typeface="Arial"/>
              <a:ea typeface="Arial"/>
              <a:cs typeface="Arial"/>
              <a:sym typeface="Arial"/>
            </a:endParaRPr>
          </a:p>
        </p:txBody>
      </p:sp>
      <p:sp>
        <p:nvSpPr>
          <p:cNvPr id="232" name="Google Shape;232;p9"/>
          <p:cNvSpPr/>
          <p:nvPr/>
        </p:nvSpPr>
        <p:spPr>
          <a:xfrm>
            <a:off x="8222912" y="2495500"/>
            <a:ext cx="2926800" cy="270900"/>
          </a:xfrm>
          <a:prstGeom prst="rect">
            <a:avLst/>
          </a:prstGeom>
          <a:noFill/>
          <a:ln>
            <a:noFill/>
          </a:ln>
        </p:spPr>
        <p:txBody>
          <a:bodyPr anchorCtr="0" anchor="t" bIns="52000" lIns="104025" spcFirstLastPara="1" rIns="104025" wrap="square" tIns="52000">
            <a:noAutofit/>
          </a:bodyPr>
          <a:lstStyle/>
          <a:p>
            <a:pPr indent="0" lvl="0" marL="0" marR="0" rtl="0" algn="l">
              <a:lnSpc>
                <a:spcPct val="100000"/>
              </a:lnSpc>
              <a:spcBef>
                <a:spcPts val="0"/>
              </a:spcBef>
              <a:spcAft>
                <a:spcPts val="0"/>
              </a:spcAft>
              <a:buNone/>
            </a:pPr>
            <a:r>
              <a:rPr lang="en-US" sz="1593"/>
              <a:t>Pengembangan Tahap Preprocessing</a:t>
            </a:r>
            <a:endParaRPr sz="1593"/>
          </a:p>
        </p:txBody>
      </p:sp>
      <p:sp>
        <p:nvSpPr>
          <p:cNvPr id="233" name="Google Shape;233;p9"/>
          <p:cNvSpPr/>
          <p:nvPr/>
        </p:nvSpPr>
        <p:spPr>
          <a:xfrm>
            <a:off x="8236139" y="3086202"/>
            <a:ext cx="1517400" cy="32400"/>
          </a:xfrm>
          <a:prstGeom prst="rect">
            <a:avLst/>
          </a:prstGeom>
          <a:solidFill>
            <a:srgbClr val="37B8B3"/>
          </a:solidFill>
          <a:ln cap="flat" cmpd="sng" w="10850">
            <a:solidFill>
              <a:srgbClr val="37B8B3"/>
            </a:solidFill>
            <a:prstDash val="solid"/>
            <a:round/>
            <a:headEnd len="sm" w="sm" type="none"/>
            <a:tailEnd len="sm" w="sm" type="none"/>
          </a:ln>
        </p:spPr>
        <p:txBody>
          <a:bodyPr anchorCtr="0" anchor="t" bIns="52000" lIns="104025" spcFirstLastPara="1" rIns="104025" wrap="square" tIns="52000">
            <a:noAutofit/>
          </a:bodyPr>
          <a:lstStyle/>
          <a:p>
            <a:pPr indent="0" lvl="0" marL="0" marR="0" rtl="0" algn="l">
              <a:lnSpc>
                <a:spcPct val="100000"/>
              </a:lnSpc>
              <a:spcBef>
                <a:spcPts val="0"/>
              </a:spcBef>
              <a:spcAft>
                <a:spcPts val="0"/>
              </a:spcAft>
              <a:buClr>
                <a:srgbClr val="000000"/>
              </a:buClr>
              <a:buSzPts val="2048"/>
              <a:buFont typeface="Arial"/>
              <a:buNone/>
            </a:pPr>
            <a:r>
              <a:t/>
            </a:r>
            <a:endParaRPr b="0" i="0" sz="2048" u="none" cap="none" strike="noStrike">
              <a:solidFill>
                <a:schemeClr val="dk1"/>
              </a:solidFill>
              <a:latin typeface="Calibri"/>
              <a:ea typeface="Calibri"/>
              <a:cs typeface="Calibri"/>
              <a:sym typeface="Calibri"/>
            </a:endParaRPr>
          </a:p>
        </p:txBody>
      </p:sp>
      <p:pic>
        <p:nvPicPr>
          <p:cNvPr id="234" name="Google Shape;234;p9"/>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235" name="Google Shape;235;p9"/>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236" name="Google Shape;236;p9"/>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237" name="Google Shape;237;p9"/>
          <p:cNvSpPr txBox="1"/>
          <p:nvPr/>
        </p:nvSpPr>
        <p:spPr>
          <a:xfrm>
            <a:off x="1224952" y="3587908"/>
            <a:ext cx="2549400" cy="1821600"/>
          </a:xfrm>
          <a:prstGeom prst="rect">
            <a:avLst/>
          </a:prstGeom>
          <a:noFill/>
          <a:ln>
            <a:noFill/>
          </a:ln>
        </p:spPr>
        <p:txBody>
          <a:bodyPr anchorCtr="0" anchor="ctr" bIns="52000" lIns="104025" spcFirstLastPara="1" rIns="104025" wrap="square" tIns="52000">
            <a:spAutoFit/>
          </a:bodyPr>
          <a:lstStyle/>
          <a:p>
            <a:pPr indent="0" lvl="0" marL="0" marR="0" rtl="0" algn="l">
              <a:lnSpc>
                <a:spcPct val="100000"/>
              </a:lnSpc>
              <a:spcBef>
                <a:spcPts val="0"/>
              </a:spcBef>
              <a:spcAft>
                <a:spcPts val="0"/>
              </a:spcAft>
              <a:buNone/>
            </a:pPr>
            <a:r>
              <a:rPr b="0" i="0" lang="en-US" sz="1593" u="none" cap="none" strike="noStrike">
                <a:solidFill>
                  <a:srgbClr val="000000"/>
                </a:solidFill>
                <a:latin typeface="Arial"/>
                <a:ea typeface="Arial"/>
                <a:cs typeface="Arial"/>
                <a:sym typeface="Arial"/>
              </a:rPr>
              <a:t>Menambah data dari periode yang lebih panjang dan memastikan data berlabel lebih bervariasi agar model belajar dari pola ulasan yang lebih luas.</a:t>
            </a:r>
            <a:endParaRPr sz="1593"/>
          </a:p>
        </p:txBody>
      </p:sp>
      <p:sp>
        <p:nvSpPr>
          <p:cNvPr id="238" name="Google Shape;238;p9"/>
          <p:cNvSpPr txBox="1"/>
          <p:nvPr/>
        </p:nvSpPr>
        <p:spPr>
          <a:xfrm>
            <a:off x="4523340" y="3587908"/>
            <a:ext cx="2549400" cy="1576200"/>
          </a:xfrm>
          <a:prstGeom prst="rect">
            <a:avLst/>
          </a:prstGeom>
          <a:noFill/>
          <a:ln>
            <a:noFill/>
          </a:ln>
        </p:spPr>
        <p:txBody>
          <a:bodyPr anchorCtr="0" anchor="ctr" bIns="52000" lIns="104025" spcFirstLastPara="1" rIns="104025" wrap="square" tIns="52000">
            <a:spAutoFit/>
          </a:bodyPr>
          <a:lstStyle/>
          <a:p>
            <a:pPr indent="0" lvl="0" marL="0" marR="0" rtl="0" algn="l">
              <a:lnSpc>
                <a:spcPct val="100000"/>
              </a:lnSpc>
              <a:spcBef>
                <a:spcPts val="0"/>
              </a:spcBef>
              <a:spcAft>
                <a:spcPts val="0"/>
              </a:spcAft>
              <a:buNone/>
            </a:pPr>
            <a:r>
              <a:rPr b="0" i="0" lang="en-US" sz="1593" u="none" cap="none" strike="noStrike">
                <a:solidFill>
                  <a:srgbClr val="000000"/>
                </a:solidFill>
                <a:latin typeface="Arial"/>
                <a:ea typeface="Arial"/>
                <a:cs typeface="Arial"/>
                <a:sym typeface="Arial"/>
              </a:rPr>
              <a:t>Menambah contoh ulasan netral, terutama pertanyaan dan informasi umum, agar model tidak terlalu condong ke kelas negatif atau positif.</a:t>
            </a:r>
            <a:endParaRPr sz="1593"/>
          </a:p>
        </p:txBody>
      </p:sp>
      <p:sp>
        <p:nvSpPr>
          <p:cNvPr id="239" name="Google Shape;239;p9"/>
          <p:cNvSpPr txBox="1"/>
          <p:nvPr/>
        </p:nvSpPr>
        <p:spPr>
          <a:xfrm>
            <a:off x="8073332" y="3587908"/>
            <a:ext cx="2549400" cy="1821600"/>
          </a:xfrm>
          <a:prstGeom prst="rect">
            <a:avLst/>
          </a:prstGeom>
          <a:noFill/>
          <a:ln>
            <a:noFill/>
          </a:ln>
        </p:spPr>
        <p:txBody>
          <a:bodyPr anchorCtr="0" anchor="ctr" bIns="52000" lIns="104025" spcFirstLastPara="1" rIns="104025" wrap="square" tIns="52000">
            <a:spAutoFit/>
          </a:bodyPr>
          <a:lstStyle/>
          <a:p>
            <a:pPr indent="0" lvl="0" marL="0" marR="0" rtl="0" algn="l">
              <a:lnSpc>
                <a:spcPct val="100000"/>
              </a:lnSpc>
              <a:spcBef>
                <a:spcPts val="0"/>
              </a:spcBef>
              <a:spcAft>
                <a:spcPts val="0"/>
              </a:spcAft>
              <a:buNone/>
            </a:pPr>
            <a:r>
              <a:rPr lang="en-US" sz="1593"/>
              <a:t>Memperluas kamus normalisasi kata tidak baku, singkatan, dan bahasa gaul, serta membandingkan stemming dengan lemmatization. </a:t>
            </a:r>
            <a:endParaRPr sz="1593"/>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pic>
        <p:nvPicPr>
          <p:cNvPr id="245" name="Google Shape;245;p10"/>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246" name="Google Shape;246;p10"/>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247" name="Google Shape;247;p10"/>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248" name="Google Shape;248;p10"/>
          <p:cNvSpPr txBox="1"/>
          <p:nvPr/>
        </p:nvSpPr>
        <p:spPr>
          <a:xfrm>
            <a:off x="1805938" y="3213535"/>
            <a:ext cx="8595300" cy="569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100"/>
              <a:buFont typeface="Arial"/>
              <a:buNone/>
            </a:pPr>
            <a:r>
              <a:rPr b="1" lang="en-US" sz="3100">
                <a:solidFill>
                  <a:srgbClr val="0B0F14"/>
                </a:solidFill>
                <a:latin typeface="Calibri"/>
                <a:ea typeface="Calibri"/>
                <a:cs typeface="Calibri"/>
                <a:sym typeface="Calibri"/>
              </a:rPr>
              <a:t>QNA SESSION</a:t>
            </a:r>
            <a:endParaRPr b="0" i="0" sz="1400" u="none" cap="none" strike="noStrike">
              <a:solidFill>
                <a:srgbClr val="000000"/>
              </a:solidFill>
              <a:latin typeface="Arial"/>
              <a:ea typeface="Arial"/>
              <a:cs typeface="Arial"/>
              <a:sym typeface="Arial"/>
            </a:endParaRPr>
          </a:p>
        </p:txBody>
      </p:sp>
      <p:sp>
        <p:nvSpPr>
          <p:cNvPr id="249" name="Google Shape;249;p10"/>
          <p:cNvSpPr/>
          <p:nvPr/>
        </p:nvSpPr>
        <p:spPr>
          <a:xfrm>
            <a:off x="4983480" y="4160520"/>
            <a:ext cx="2240280" cy="45720"/>
          </a:xfrm>
          <a:prstGeom prst="rect">
            <a:avLst/>
          </a:prstGeom>
          <a:solidFill>
            <a:srgbClr val="27ABA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pic>
        <p:nvPicPr>
          <p:cNvPr id="255" name="Google Shape;255;p11"/>
          <p:cNvPicPr preferRelativeResize="0"/>
          <p:nvPr/>
        </p:nvPicPr>
        <p:blipFill rotWithShape="1">
          <a:blip r:embed="rId3">
            <a:alphaModFix/>
          </a:blip>
          <a:srcRect b="0" l="0" r="0" t="0"/>
          <a:stretch/>
        </p:blipFill>
        <p:spPr>
          <a:xfrm>
            <a:off x="400050" y="228600"/>
            <a:ext cx="2743200" cy="685800"/>
          </a:xfrm>
          <a:prstGeom prst="rect">
            <a:avLst/>
          </a:prstGeom>
          <a:noFill/>
          <a:ln>
            <a:noFill/>
          </a:ln>
        </p:spPr>
      </p:pic>
      <p:sp>
        <p:nvSpPr>
          <p:cNvPr id="256" name="Google Shape;256;p11"/>
          <p:cNvSpPr/>
          <p:nvPr/>
        </p:nvSpPr>
        <p:spPr>
          <a:xfrm>
            <a:off x="9048750" y="266700"/>
            <a:ext cx="2667000" cy="514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Project Based Learning</a:t>
            </a:r>
            <a:endParaRPr b="0" i="0" sz="18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50A4"/>
              </a:buClr>
              <a:buSzPts val="1275"/>
              <a:buFont typeface="Calibri"/>
              <a:buNone/>
            </a:pPr>
            <a:r>
              <a:rPr b="1" i="0" lang="en-US" sz="1275" u="none" cap="none" strike="noStrike">
                <a:solidFill>
                  <a:srgbClr val="0050A4"/>
                </a:solidFill>
                <a:latin typeface="Calibri"/>
                <a:ea typeface="Calibri"/>
                <a:cs typeface="Calibri"/>
                <a:sym typeface="Calibri"/>
              </a:rPr>
              <a:t>Data Analyst</a:t>
            </a:r>
            <a:endParaRPr b="0" i="0" sz="1800" u="none" cap="none" strike="noStrike">
              <a:solidFill>
                <a:srgbClr val="000000"/>
              </a:solidFill>
              <a:latin typeface="Arial"/>
              <a:ea typeface="Arial"/>
              <a:cs typeface="Arial"/>
              <a:sym typeface="Arial"/>
            </a:endParaRPr>
          </a:p>
        </p:txBody>
      </p:sp>
      <p:pic>
        <p:nvPicPr>
          <p:cNvPr id="257" name="Google Shape;257;p11"/>
          <p:cNvPicPr preferRelativeResize="0"/>
          <p:nvPr/>
        </p:nvPicPr>
        <p:blipFill rotWithShape="1">
          <a:blip r:embed="rId4">
            <a:alphaModFix/>
          </a:blip>
          <a:srcRect b="0" l="0" r="0" t="0"/>
          <a:stretch/>
        </p:blipFill>
        <p:spPr>
          <a:xfrm>
            <a:off x="10149568" y="6076950"/>
            <a:ext cx="1436914" cy="609600"/>
          </a:xfrm>
          <a:prstGeom prst="rect">
            <a:avLst/>
          </a:prstGeom>
          <a:noFill/>
          <a:ln>
            <a:noFill/>
          </a:ln>
        </p:spPr>
      </p:pic>
      <p:sp>
        <p:nvSpPr>
          <p:cNvPr id="258" name="Google Shape;258;p11"/>
          <p:cNvSpPr/>
          <p:nvPr/>
        </p:nvSpPr>
        <p:spPr>
          <a:xfrm>
            <a:off x="4125425" y="2447300"/>
            <a:ext cx="7197600" cy="68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B0F14"/>
              </a:buClr>
              <a:buSzPts val="2550"/>
              <a:buFont typeface="Calibri"/>
              <a:buNone/>
            </a:pPr>
            <a:r>
              <a:rPr b="1" i="0" lang="en-US" sz="7200" u="none" cap="none" strike="noStrike">
                <a:solidFill>
                  <a:srgbClr val="0B0F14"/>
                </a:solidFill>
                <a:latin typeface="Calibri"/>
                <a:ea typeface="Calibri"/>
                <a:cs typeface="Calibri"/>
                <a:sym typeface="Calibri"/>
              </a:rPr>
              <a:t>TERIMA KASIH</a:t>
            </a:r>
            <a:endParaRPr b="0" i="0" sz="7200" u="none" cap="none" strike="noStrike">
              <a:solidFill>
                <a:srgbClr val="000000"/>
              </a:solidFill>
              <a:latin typeface="Arial"/>
              <a:ea typeface="Arial"/>
              <a:cs typeface="Arial"/>
              <a:sym typeface="Arial"/>
            </a:endParaRPr>
          </a:p>
        </p:txBody>
      </p:sp>
      <p:sp>
        <p:nvSpPr>
          <p:cNvPr id="259" name="Google Shape;259;p11"/>
          <p:cNvSpPr/>
          <p:nvPr/>
        </p:nvSpPr>
        <p:spPr>
          <a:xfrm>
            <a:off x="6910700" y="3729350"/>
            <a:ext cx="1428900" cy="47700"/>
          </a:xfrm>
          <a:prstGeom prst="rect">
            <a:avLst/>
          </a:prstGeom>
          <a:solidFill>
            <a:srgbClr val="23A9E1"/>
          </a:solidFill>
          <a:ln cap="flat" cmpd="sng" w="9525">
            <a:solidFill>
              <a:srgbClr val="23A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500" u="none" cap="none" strike="noStrike">
              <a:solidFill>
                <a:schemeClr val="dk1"/>
              </a:solidFill>
              <a:latin typeface="Calibri"/>
              <a:ea typeface="Calibri"/>
              <a:cs typeface="Calibri"/>
              <a:sym typeface="Calibri"/>
            </a:endParaRPr>
          </a:p>
        </p:txBody>
      </p:sp>
      <p:pic>
        <p:nvPicPr>
          <p:cNvPr id="260" name="Google Shape;260;p11"/>
          <p:cNvPicPr preferRelativeResize="0"/>
          <p:nvPr/>
        </p:nvPicPr>
        <p:blipFill rotWithShape="1">
          <a:blip r:embed="rId5">
            <a:alphaModFix/>
          </a:blip>
          <a:srcRect b="0" l="0" r="0" t="0"/>
          <a:stretch/>
        </p:blipFill>
        <p:spPr>
          <a:xfrm>
            <a:off x="758325" y="1996427"/>
            <a:ext cx="3680400" cy="3680400"/>
          </a:xfrm>
          <a:prstGeom prst="roundRect">
            <a:avLst>
              <a:gd fmla="val 16667" name="adj"/>
            </a:avLst>
          </a:prstGeom>
          <a:noFill/>
          <a:ln>
            <a:noFill/>
          </a:ln>
        </p:spPr>
      </p:pic>
      <p:sp>
        <p:nvSpPr>
          <p:cNvPr id="261" name="Google Shape;261;p11"/>
          <p:cNvSpPr txBox="1"/>
          <p:nvPr/>
        </p:nvSpPr>
        <p:spPr>
          <a:xfrm>
            <a:off x="3706025" y="781050"/>
            <a:ext cx="4403100" cy="307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2D3748"/>
                </a:solidFill>
                <a:latin typeface="Calibri"/>
                <a:ea typeface="Calibri"/>
                <a:cs typeface="Calibri"/>
                <a:sym typeface="Calibri"/>
              </a:rPr>
              <a:t>Analisis Sentimen Ulasan Pengguna Aplikasi Mobile JKN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